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brand name, campaign name, launch date, two campaign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campaign objective and three measurable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two audience segments, each with a photo, age range, a quote and what they care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core campaign line, a supporting line, and a full-bleed campaign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six channels and their share of the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total budget, cost by phase, and target cost per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four campaign phases, each with a start date and key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Fills from: up to four KPIs to track, reporting rhythm,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3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252278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90" kern="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Saanjh Skincare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4943475"/>
            <a:ext cx="8437245" cy="423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9340"/>
              </a:lnSpc>
              <a:buNone/>
            </a:pPr>
            <a:r>
              <a:rPr lang="en-US" sz="11250" spc="-225" kern="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Monsoon glow launch plan</a:t>
            </a:r>
            <a:endParaRPr lang="en-US" sz="11250" dirty="0"/>
          </a:p>
        </p:txBody>
      </p:sp>
      <p:sp>
        <p:nvSpPr>
          <p:cNvPr id="4" name="Shape 2"/>
          <p:cNvSpPr/>
          <p:nvPr/>
        </p:nvSpPr>
        <p:spPr>
          <a:xfrm rot="-300000">
            <a:off x="9334500" y="1142999"/>
            <a:ext cx="4953001" cy="609600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0" dist="228600" dir="5400000">
              <a:srgbClr val="2B2118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240000">
            <a:off x="12858750" y="2857500"/>
            <a:ext cx="4381500" cy="55245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0" dist="228600" dir="5400000">
              <a:srgbClr val="2B2118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-720001">
            <a:off x="11239499" y="6953249"/>
            <a:ext cx="2286001" cy="2286001"/>
          </a:xfrm>
          <a:prstGeom prst="ellipse">
            <a:avLst/>
          </a:prstGeom>
          <a:solidFill>
            <a:srgbClr val="B8452F"/>
          </a:solidFill>
          <a:ln/>
        </p:spPr>
      </p:sp>
      <p:sp>
        <p:nvSpPr>
          <p:cNvPr id="7" name="Text 5"/>
          <p:cNvSpPr/>
          <p:nvPr/>
        </p:nvSpPr>
        <p:spPr>
          <a:xfrm>
            <a:off x="11526092" y="7477548"/>
            <a:ext cx="1578006" cy="641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pc="156" kern="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LIVE FROM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377876" y="7778299"/>
            <a:ext cx="2080395" cy="1009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1111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1 June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FD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2753975" cy="171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4118"/>
              </a:lnSpc>
              <a:buNone/>
            </a:pPr>
            <a:r>
              <a:rPr lang="en-US" sz="63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Be the sunscreen people reach for when it rains.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>
            <a:off x="1828800" y="3697486"/>
            <a:ext cx="4572000" cy="4572000"/>
          </a:xfrm>
          <a:prstGeom prst="ellipse">
            <a:avLst/>
          </a:prstGeom>
          <a:solidFill>
            <a:srgbClr val="2B2118"/>
          </a:solidFill>
          <a:ln/>
        </p:spPr>
      </p:sp>
      <p:sp>
        <p:nvSpPr>
          <p:cNvPr id="4" name="Text 2"/>
          <p:cNvSpPr/>
          <p:nvPr/>
        </p:nvSpPr>
        <p:spPr>
          <a:xfrm>
            <a:off x="2873879" y="4859536"/>
            <a:ext cx="2481694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0755"/>
              </a:lnSpc>
              <a:buNone/>
            </a:pPr>
            <a:r>
              <a:rPr lang="en-US" sz="11250" dirty="0">
                <a:solidFill>
                  <a:srgbClr val="F3E3A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2M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2643188" y="6364486"/>
            <a:ext cx="29432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05"/>
              </a:lnSpc>
              <a:buNone/>
            </a:pPr>
            <a:r>
              <a:rPr lang="en-US" sz="2250" dirty="0">
                <a:solidFill>
                  <a:srgbClr val="F3E3A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people reached in month one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6858000" y="4078486"/>
            <a:ext cx="4572000" cy="4572000"/>
          </a:xfrm>
          <a:prstGeom prst="ellipse">
            <a:avLst/>
          </a:prstGeom>
          <a:solidFill>
            <a:srgbClr val="B8452F"/>
          </a:solidFill>
          <a:ln/>
        </p:spPr>
      </p:sp>
      <p:sp>
        <p:nvSpPr>
          <p:cNvPr id="7" name="Text 5"/>
          <p:cNvSpPr/>
          <p:nvPr/>
        </p:nvSpPr>
        <p:spPr>
          <a:xfrm>
            <a:off x="7754593" y="5426273"/>
            <a:ext cx="2778666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0755"/>
              </a:lnSpc>
              <a:buNone/>
            </a:pPr>
            <a:r>
              <a:rPr lang="en-US" sz="1125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40k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7572375" y="6931223"/>
            <a:ext cx="3143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05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units sold by August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1887200" y="3697486"/>
            <a:ext cx="4572000" cy="4572000"/>
          </a:xfrm>
          <a:prstGeom prst="ellipse">
            <a:avLst/>
          </a:prstGeom>
          <a:solidFill>
            <a:srgbClr val="F3E3A1"/>
          </a:solidFill>
          <a:ln/>
        </p:spPr>
      </p:sp>
      <p:sp>
        <p:nvSpPr>
          <p:cNvPr id="10" name="Text 8"/>
          <p:cNvSpPr/>
          <p:nvPr/>
        </p:nvSpPr>
        <p:spPr>
          <a:xfrm>
            <a:off x="12438035" y="5045273"/>
            <a:ext cx="3470181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70755"/>
              </a:lnSpc>
              <a:buNone/>
            </a:pPr>
            <a:r>
              <a:rPr lang="en-US" sz="1125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4.5★</a:t>
            </a:r>
            <a:endParaRPr lang="en-US" sz="11250" dirty="0"/>
          </a:p>
        </p:txBody>
      </p:sp>
      <p:sp>
        <p:nvSpPr>
          <p:cNvPr id="11" name="Text 9"/>
          <p:cNvSpPr/>
          <p:nvPr/>
        </p:nvSpPr>
        <p:spPr>
          <a:xfrm>
            <a:off x="12601575" y="6550223"/>
            <a:ext cx="31432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405"/>
              </a:lnSpc>
              <a:buNone/>
            </a:pPr>
            <a:r>
              <a:rPr lang="en-US" sz="225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average rating online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D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40944"/>
            <a:ext cx="5101590" cy="174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87"/>
              </a:lnSpc>
              <a:buNone/>
            </a:pPr>
            <a:r>
              <a:rPr lang="en-US" sz="66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Who we're talking to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143000" y="5717381"/>
            <a:ext cx="5101590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568"/>
              </a:lnSpc>
              <a:buNone/>
            </a:pPr>
            <a:r>
              <a:rPr lang="en-US" sz="225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Two groups with one complaint: sunscreen that melts in humidity.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 rot="-180000">
            <a:off x="6667499" y="2295524"/>
            <a:ext cx="4953002" cy="5695953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0" dist="228600" dir="5400000">
              <a:srgbClr val="2B2118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1426" y="6193935"/>
            <a:ext cx="4678407" cy="551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8452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22–30 · METRO COMMUTERS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65852" y="6660020"/>
            <a:ext cx="4710338" cy="1142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444"/>
              </a:lnSpc>
              <a:buNone/>
            </a:pPr>
            <a:r>
              <a:rPr lang="en-US" sz="285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"It's gone by noon, so I skip it."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 rot="150000">
            <a:off x="12179536" y="2581004"/>
            <a:ext cx="4952999" cy="569594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476250" dist="228600" dir="5400000">
              <a:srgbClr val="2B2118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28130" y="6499663"/>
            <a:ext cx="4677882" cy="511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B8452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30–45 · PARENTS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281934" y="6965943"/>
            <a:ext cx="4704495" cy="11036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444"/>
              </a:lnSpc>
              <a:buNone/>
            </a:pPr>
            <a:r>
              <a:rPr lang="en-US" sz="285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"One tube the whole family can use."</a:t>
            </a:r>
            <a:endParaRPr lang="en-US" sz="2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90000">
            <a:off x="1143003" y="3838576"/>
            <a:ext cx="15963895" cy="5305423"/>
          </a:xfrm>
          <a:prstGeom prst="rect">
            <a:avLst/>
          </a:prstGeom>
          <a:solidFill>
            <a:srgbClr val="F3E3A1"/>
          </a:solidFill>
          <a:ln/>
        </p:spPr>
      </p:sp>
      <p:sp>
        <p:nvSpPr>
          <p:cNvPr id="3" name="Text 1"/>
          <p:cNvSpPr/>
          <p:nvPr/>
        </p:nvSpPr>
        <p:spPr>
          <a:xfrm>
            <a:off x="1932160" y="4338047"/>
            <a:ext cx="14719301" cy="716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B8452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BIG IDEA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45126" y="4833178"/>
            <a:ext cx="14803793" cy="3849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7100"/>
              </a:lnSpc>
              <a:buNone/>
            </a:pPr>
            <a:r>
              <a:rPr lang="en-US" sz="14250" spc="-142" kern="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Rain or shine, it stays on.</a:t>
            </a:r>
            <a:endParaRPr lang="en-US" sz="14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Where the money goes</a:t>
            </a:r>
            <a:endParaRPr lang="en-US" sz="6300" dirty="0"/>
          </a:p>
        </p:txBody>
      </p:sp>
      <p:sp>
        <p:nvSpPr>
          <p:cNvPr id="3" name="Text 1"/>
          <p:cNvSpPr/>
          <p:nvPr/>
        </p:nvSpPr>
        <p:spPr>
          <a:xfrm>
            <a:off x="1143000" y="3048000"/>
            <a:ext cx="502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Creators &amp; reels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rot="-60000">
            <a:off x="6095999" y="2752725"/>
            <a:ext cx="11049003" cy="1047750"/>
          </a:xfrm>
          <a:prstGeom prst="rect">
            <a:avLst/>
          </a:prstGeom>
          <a:solidFill>
            <a:srgbClr val="B8452F"/>
          </a:solidFill>
          <a:ln/>
          <a:effectLst>
            <a:outerShdw sx="100000" sy="100000" kx="0" ky="0" algn="bl" rotWithShape="0" blurRad="285750" dist="133350" dir="5400000">
              <a:srgbClr val="2B2118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 rot="-60000">
            <a:off x="6069329" y="2752725"/>
            <a:ext cx="10770873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35%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143000" y="4407694"/>
            <a:ext cx="502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Paid social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 rot="48000">
            <a:off x="6097114" y="4112419"/>
            <a:ext cx="7886704" cy="1047750"/>
          </a:xfrm>
          <a:prstGeom prst="rect">
            <a:avLst/>
          </a:prstGeom>
          <a:solidFill>
            <a:srgbClr val="2B2118"/>
          </a:solidFill>
          <a:ln/>
          <a:effectLst>
            <a:outerShdw sx="100000" sy="100000" kx="0" ky="0" algn="bl" rotWithShape="0" blurRad="285750" dist="133350" dir="5400000">
              <a:srgbClr val="2B2118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 rot="48000">
            <a:off x="6165313" y="4112419"/>
            <a:ext cx="7513705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4200" dirty="0">
                <a:solidFill>
                  <a:srgbClr val="F3E3A1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25%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143000" y="5767388"/>
            <a:ext cx="502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Quick-commerce ads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 rot="-36000">
            <a:off x="6097712" y="5472113"/>
            <a:ext cx="6305549" cy="1047750"/>
          </a:xfrm>
          <a:prstGeom prst="rect">
            <a:avLst/>
          </a:prstGeom>
          <a:solidFill>
            <a:srgbClr val="CFDCC4"/>
          </a:solidFill>
          <a:ln/>
          <a:effectLst>
            <a:outerShdw sx="100000" sy="100000" kx="0" ky="0" algn="bl" rotWithShape="0" blurRad="285750" dist="133350" dir="5400000">
              <a:srgbClr val="2B2118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 rot="-36000">
            <a:off x="6213346" y="5472113"/>
            <a:ext cx="5885116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42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20%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143000" y="7127081"/>
            <a:ext cx="502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Metro sampling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 rot="60000">
            <a:off x="6095404" y="6831806"/>
            <a:ext cx="3790951" cy="1047750"/>
          </a:xfrm>
          <a:prstGeom prst="rect">
            <a:avLst/>
          </a:prstGeom>
          <a:solidFill>
            <a:srgbClr val="F3E3A1"/>
          </a:solidFill>
          <a:ln/>
          <a:effectLst>
            <a:outerShdw sx="100000" sy="100000" kx="0" ky="0" algn="bl" rotWithShape="0" blurRad="285750" dist="133350" dir="5400000">
              <a:srgbClr val="2B2118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 rot="60000">
            <a:off x="6286476" y="6831806"/>
            <a:ext cx="329508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42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12%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43000" y="8486775"/>
            <a:ext cx="502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Email &amp; WhatsApp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 rot="-48000">
            <a:off x="6094214" y="8191500"/>
            <a:ext cx="2533651" cy="1047750"/>
          </a:xfrm>
          <a:prstGeom prst="rect">
            <a:avLst/>
          </a:prstGeom>
          <a:solidFill>
            <a:srgbClr val="F4D3C7"/>
          </a:solidFill>
          <a:ln/>
          <a:effectLst>
            <a:outerShdw sx="100000" sy="100000" kx="0" ky="0" algn="bl" rotWithShape="0" blurRad="285750" dist="133350" dir="5400000">
              <a:srgbClr val="2B2118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 rot="-48000">
            <a:off x="6322814" y="8191500"/>
            <a:ext cx="2000251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42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8%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84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757613"/>
            <a:ext cx="98488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Total budget, 12 weeks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143000" y="4300538"/>
            <a:ext cx="9848850" cy="226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760"/>
              </a:lnSpc>
              <a:buNone/>
            </a:pPr>
            <a:r>
              <a:rPr lang="en-US" sz="19500" dirty="0">
                <a:solidFill>
                  <a:srgbClr val="FFFFFF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₹1.2 Cr</a:t>
            </a:r>
            <a:endParaRPr lang="en-US" sz="19500" dirty="0"/>
          </a:p>
        </p:txBody>
      </p:sp>
      <p:sp>
        <p:nvSpPr>
          <p:cNvPr id="4" name="Shape 2"/>
          <p:cNvSpPr/>
          <p:nvPr/>
        </p:nvSpPr>
        <p:spPr>
          <a:xfrm rot="120000">
            <a:off x="11048999" y="2747962"/>
            <a:ext cx="6096001" cy="4791076"/>
          </a:xfrm>
          <a:prstGeom prst="rect">
            <a:avLst/>
          </a:prstGeom>
          <a:solidFill>
            <a:srgbClr val="FBF6EC"/>
          </a:solidFill>
          <a:ln/>
          <a:effectLst>
            <a:outerShdw sx="100000" sy="100000" kx="0" ky="0" algn="bl" rotWithShape="0" blurRad="571500" dist="28575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593557" y="3155332"/>
            <a:ext cx="5274532" cy="520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SPEND BY PHASE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563972" y="3688407"/>
            <a:ext cx="5131875" cy="28575"/>
          </a:xfrm>
          <a:prstGeom prst="rect">
            <a:avLst/>
          </a:prstGeom>
          <a:solidFill>
            <a:srgbClr val="C9B9A3"/>
          </a:solidFill>
          <a:ln/>
        </p:spPr>
      </p:sp>
      <p:sp>
        <p:nvSpPr>
          <p:cNvPr id="7" name="Text 5"/>
          <p:cNvSpPr/>
          <p:nvPr/>
        </p:nvSpPr>
        <p:spPr>
          <a:xfrm>
            <a:off x="11571949" y="3945425"/>
            <a:ext cx="868217" cy="427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Tease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938286" y="4097901"/>
            <a:ext cx="824786" cy="425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₹18 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534387" y="4535616"/>
            <a:ext cx="5131875" cy="28575"/>
          </a:xfrm>
          <a:prstGeom prst="rect">
            <a:avLst/>
          </a:prstGeom>
          <a:solidFill>
            <a:srgbClr val="C9B9A3"/>
          </a:solidFill>
          <a:ln/>
        </p:spPr>
      </p:sp>
      <p:sp>
        <p:nvSpPr>
          <p:cNvPr id="10" name="Text 8"/>
          <p:cNvSpPr/>
          <p:nvPr/>
        </p:nvSpPr>
        <p:spPr>
          <a:xfrm>
            <a:off x="11542364" y="4792634"/>
            <a:ext cx="1077341" cy="434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Launch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878805" y="4944066"/>
            <a:ext cx="854682" cy="426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₹62 L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504801" y="5382824"/>
            <a:ext cx="5131875" cy="28575"/>
          </a:xfrm>
          <a:prstGeom prst="rect">
            <a:avLst/>
          </a:prstGeom>
          <a:solidFill>
            <a:srgbClr val="C9B9A3"/>
          </a:solidFill>
          <a:ln/>
        </p:spPr>
      </p:sp>
      <p:sp>
        <p:nvSpPr>
          <p:cNvPr id="13" name="Text 11"/>
          <p:cNvSpPr/>
          <p:nvPr/>
        </p:nvSpPr>
        <p:spPr>
          <a:xfrm>
            <a:off x="11512780" y="5639843"/>
            <a:ext cx="1098313" cy="435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Sustain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807425" y="5789815"/>
            <a:ext cx="896477" cy="4280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₹40 L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1482197" y="6230033"/>
            <a:ext cx="5124894" cy="28575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6" name="Text 14"/>
          <p:cNvSpPr/>
          <p:nvPr/>
        </p:nvSpPr>
        <p:spPr>
          <a:xfrm>
            <a:off x="11482197" y="6487051"/>
            <a:ext cx="2229143" cy="498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Per customer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5846749" y="6639465"/>
            <a:ext cx="827567" cy="4541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₹180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047750"/>
            <a:ext cx="17602200" cy="1171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Twelve weeks, four moments</a:t>
            </a:r>
            <a:endParaRPr lang="en-US" sz="6300" dirty="0"/>
          </a:p>
        </p:txBody>
      </p:sp>
      <p:sp>
        <p:nvSpPr>
          <p:cNvPr id="3" name="Shape 1"/>
          <p:cNvSpPr/>
          <p:nvPr/>
        </p:nvSpPr>
        <p:spPr>
          <a:xfrm rot="-120000">
            <a:off x="1142999" y="2943225"/>
            <a:ext cx="3714751" cy="5819776"/>
          </a:xfrm>
          <a:prstGeom prst="rect">
            <a:avLst/>
          </a:prstGeom>
          <a:solidFill>
            <a:srgbClr val="F3E3A1"/>
          </a:solidFill>
          <a:ln/>
        </p:spPr>
      </p:sp>
      <p:sp>
        <p:nvSpPr>
          <p:cNvPr id="4" name="Shape 2"/>
          <p:cNvSpPr/>
          <p:nvPr/>
        </p:nvSpPr>
        <p:spPr>
          <a:xfrm>
            <a:off x="2225829" y="2731344"/>
            <a:ext cx="1345984" cy="42730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441961" y="3426548"/>
            <a:ext cx="3050436" cy="445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8452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18 May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49207" y="6497679"/>
            <a:ext cx="3275299" cy="9026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96"/>
              </a:lnSpc>
              <a:buNone/>
            </a:pPr>
            <a:r>
              <a:rPr lang="en-US" sz="60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Tease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81784" y="7430560"/>
            <a:ext cx="3069054" cy="9633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84"/>
              </a:lnSpc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Creator seeding and mystery reels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 rot="90000">
            <a:off x="5226284" y="3419313"/>
            <a:ext cx="3714749" cy="5819773"/>
          </a:xfrm>
          <a:prstGeom prst="rect">
            <a:avLst/>
          </a:prstGeom>
          <a:solidFill>
            <a:srgbClr val="CFDCC4"/>
          </a:solidFill>
          <a:ln/>
        </p:spPr>
      </p:sp>
      <p:sp>
        <p:nvSpPr>
          <p:cNvPr id="9" name="Shape 7"/>
          <p:cNvSpPr/>
          <p:nvPr/>
        </p:nvSpPr>
        <p:spPr>
          <a:xfrm>
            <a:off x="6488322" y="3212421"/>
            <a:ext cx="1343016" cy="41577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2020" y="3914879"/>
            <a:ext cx="3255689" cy="4200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8452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 June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569610" y="6986829"/>
            <a:ext cx="3268853" cy="877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96"/>
              </a:lnSpc>
              <a:buNone/>
            </a:pPr>
            <a:r>
              <a:rPr lang="en-US" sz="60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Launch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543585" y="7919960"/>
            <a:ext cx="3062473" cy="9378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84"/>
              </a:lnSpc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Paid social and quick-commerce go live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 rot="-60000">
            <a:off x="9334499" y="2943224"/>
            <a:ext cx="3714751" cy="5819777"/>
          </a:xfrm>
          <a:prstGeom prst="rect">
            <a:avLst/>
          </a:prstGeom>
          <a:solidFill>
            <a:srgbClr val="F4D3C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1117" y="2741561"/>
            <a:ext cx="1339947" cy="40421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74250" y="3451221"/>
            <a:ext cx="3253382" cy="394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8452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29 June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9720701" y="6112457"/>
            <a:ext cx="3262158" cy="85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96"/>
              </a:lnSpc>
              <a:buNone/>
            </a:pPr>
            <a:r>
              <a:rPr lang="en-US" sz="60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Sample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736992" y="7045765"/>
            <a:ext cx="3063053" cy="13235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84"/>
              </a:lnSpc>
              <a:buNone/>
            </a:pPr>
            <a:r>
              <a:rPr lang="en-US" sz="240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Metro stations in Mumbai and Bengaluru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 rot="120000">
            <a:off x="13420277" y="3228800"/>
            <a:ext cx="3714751" cy="5819776"/>
          </a:xfrm>
          <a:prstGeom prst="rect">
            <a:avLst/>
          </a:prstGeom>
          <a:solidFill>
            <a:srgbClr val="2B2118"/>
          </a:solidFill>
          <a:ln/>
        </p:spPr>
      </p:sp>
      <p:sp>
        <p:nvSpPr>
          <p:cNvPr id="19" name="Shape 17"/>
          <p:cNvSpPr/>
          <p:nvPr/>
        </p:nvSpPr>
        <p:spPr>
          <a:xfrm>
            <a:off x="14706214" y="3016921"/>
            <a:ext cx="1345984" cy="427306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3874478" y="3712124"/>
            <a:ext cx="3050437" cy="445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3E3A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27 July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3751276" y="6783255"/>
            <a:ext cx="3275298" cy="9026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96"/>
              </a:lnSpc>
              <a:buNone/>
            </a:pPr>
            <a:r>
              <a:rPr lang="en-US" sz="6000" dirty="0">
                <a:solidFill>
                  <a:srgbClr val="FBF6EC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Sustain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13716579" y="7716136"/>
            <a:ext cx="3069055" cy="96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684"/>
              </a:lnSpc>
              <a:buNone/>
            </a:pPr>
            <a:r>
              <a:rPr lang="en-US" sz="2400" dirty="0">
                <a:solidFill>
                  <a:srgbClr val="FBF6E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Reviews push and value packs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FDC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900488"/>
            <a:ext cx="7456170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1111"/>
              </a:lnSpc>
              <a:buNone/>
            </a:pPr>
            <a:r>
              <a:rPr lang="en-US" sz="7200" dirty="0">
                <a:solidFill>
                  <a:srgbClr val="2B2118"/>
                </a:solidFill>
                <a:latin typeface="Young Serif" pitchFamily="34" charset="0"/>
                <a:ea typeface="Young Serif" pitchFamily="34" charset="-122"/>
                <a:cs typeface="Young Serif" pitchFamily="34" charset="-120"/>
              </a:rPr>
              <a:t>How we'll know it worked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6034088"/>
            <a:ext cx="79629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Reported every Monday by Riya Kapoor, Brand Manager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 rot="-90000">
            <a:off x="9334501" y="3067051"/>
            <a:ext cx="7810497" cy="4152899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71500" dist="285750" dir="5400000">
              <a:srgbClr val="2B2118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05835" y="3712370"/>
            <a:ext cx="508096" cy="508096"/>
          </a:xfrm>
          <a:prstGeom prst="roundRect">
            <a:avLst>
              <a:gd name="adj" fmla="val 18746"/>
            </a:avLst>
          </a:prstGeom>
          <a:solidFill>
            <a:srgbClr val="B8452F"/>
          </a:solidFill>
          <a:ln w="38100">
            <a:solidFill>
              <a:srgbClr val="2B21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68321" y="3637551"/>
            <a:ext cx="3803748" cy="572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Reach and video views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927775" y="4550283"/>
            <a:ext cx="508096" cy="508096"/>
          </a:xfrm>
          <a:prstGeom prst="roundRect">
            <a:avLst>
              <a:gd name="adj" fmla="val 18746"/>
            </a:avLst>
          </a:prstGeom>
          <a:ln w="38100">
            <a:solidFill>
              <a:srgbClr val="2B21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90263" y="4453440"/>
            <a:ext cx="4670016" cy="594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Add-to-cart rate by channel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9949717" y="5388196"/>
            <a:ext cx="508096" cy="508096"/>
          </a:xfrm>
          <a:prstGeom prst="roundRect">
            <a:avLst>
              <a:gd name="adj" fmla="val 18746"/>
            </a:avLst>
          </a:prstGeom>
          <a:ln w="38100">
            <a:solidFill>
              <a:srgbClr val="2B21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12204" y="5285634"/>
            <a:ext cx="4894974" cy="600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Units sold, cost per customer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971659" y="6226109"/>
            <a:ext cx="508096" cy="508095"/>
          </a:xfrm>
          <a:prstGeom prst="roundRect">
            <a:avLst>
              <a:gd name="adj" fmla="val 18746"/>
            </a:avLst>
          </a:prstGeom>
          <a:ln w="38100">
            <a:solidFill>
              <a:srgbClr val="2B21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34146" y="6134424"/>
            <a:ext cx="4467126" cy="589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2B211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Ratings and review volume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2026-10-23T11:03:21Z</dcterms:created>
  <dcterms:modified xsi:type="dcterms:W3CDTF">2026-10-23T11:03:21Z</dcterms:modified>
</cp:coreProperties>
</file>