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company name, one-line pitch, round name, date, presenter name and role,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the problem in one sentence, plus up to three pain points with a supporting fact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solution statement and three pillars (title + one line each).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product screenshot and three key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TAM, SAM and SOM values with a one-line definition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how you make money, price, and unit economics (value per order, cost lines, margin).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headline metric, monthly values for the chart (up to 8 months), and two supporting stats.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up to three competitors and four comparison criteria.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up to four team members with photo, name, role and one credential.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amount raising, use of funds (up to four lines with percentages), milestone it gets you to, contact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762000" cy="762000"/>
          </a:xfrm>
          <a:prstGeom prst="ellipse">
            <a:avLst/>
          </a:prstGeom>
          <a:solidFill>
            <a:srgbClr val="8B6FF0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11430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6141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2095500" y="1376363"/>
            <a:ext cx="42748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9A3B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SEED ROUND · OCTOBER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3477667"/>
            <a:ext cx="1760220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67"/>
              </a:lnSpc>
              <a:buNone/>
            </a:pPr>
            <a:r>
              <a:rPr lang="en-US" sz="15000" b="1" spc="-600" kern="0" dirty="0">
                <a:solidFill>
                  <a:srgbClr val="F6F4E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Tiffinly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1143000" y="5630317"/>
            <a:ext cx="11772900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134"/>
              </a:lnSpc>
              <a:buNone/>
            </a:pPr>
            <a:r>
              <a:rPr lang="en-US" sz="3900" dirty="0">
                <a:solidFill>
                  <a:srgbClr val="D9D4E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Home-cooked lunch from neighbourhood kitchens, delivered to offices across Mumbai.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143000" y="8391525"/>
            <a:ext cx="176022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6F4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Ananya Rao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43000" y="882015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9A3B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Co-founder &amp; CEO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8172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5B3F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819275"/>
            <a:ext cx="7652385" cy="3457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679"/>
              </a:lnSpc>
              <a:buNone/>
            </a:pPr>
            <a:r>
              <a:rPr lang="en-US" sz="6600" b="1" spc="-198" kern="0" dirty="0">
                <a:solidFill>
                  <a:srgbClr val="16141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Office workers in Mumbai can't get a healthy lunch they can afford every day.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715500" y="2028230"/>
            <a:ext cx="7429500" cy="19050"/>
          </a:xfrm>
          <a:prstGeom prst="rect">
            <a:avLst/>
          </a:prstGeom>
          <a:solidFill>
            <a:srgbClr val="16141B"/>
          </a:solidFill>
          <a:ln/>
        </p:spPr>
      </p:sp>
      <p:sp>
        <p:nvSpPr>
          <p:cNvPr id="5" name="Text 3"/>
          <p:cNvSpPr/>
          <p:nvPr/>
        </p:nvSpPr>
        <p:spPr>
          <a:xfrm>
            <a:off x="9715500" y="2428280"/>
            <a:ext cx="838200" cy="1327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3F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706100" y="2428280"/>
            <a:ext cx="708279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Delivery apps are expensive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706100" y="2971205"/>
            <a:ext cx="6632067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89"/>
              </a:lnSpc>
              <a:buNone/>
            </a:pPr>
            <a:r>
              <a:rPr lang="en-US" sz="2100" dirty="0">
                <a:solidFill>
                  <a:srgbClr val="5E5A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average lunch order costs ₹380 after fees, more than most people want to spend daily.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715500" y="4098727"/>
            <a:ext cx="7429500" cy="19050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9" name="Text 7"/>
          <p:cNvSpPr/>
          <p:nvPr/>
        </p:nvSpPr>
        <p:spPr>
          <a:xfrm>
            <a:off x="9715500" y="4498777"/>
            <a:ext cx="838200" cy="1327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3F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706100" y="4498777"/>
            <a:ext cx="708279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Restaurant food is heavy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706100" y="5041702"/>
            <a:ext cx="6632067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89"/>
              </a:lnSpc>
              <a:buNone/>
            </a:pPr>
            <a:r>
              <a:rPr lang="en-US" sz="2100" dirty="0">
                <a:solidFill>
                  <a:srgbClr val="5E5A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Oily, salty menus built for weekends, eaten five days a week.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715500" y="8239720"/>
            <a:ext cx="7429500" cy="19050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13" name="Shape 11"/>
          <p:cNvSpPr/>
          <p:nvPr/>
        </p:nvSpPr>
        <p:spPr>
          <a:xfrm>
            <a:off x="9715500" y="6169223"/>
            <a:ext cx="7429500" cy="19050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6569273"/>
            <a:ext cx="838200" cy="1327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B3F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706100" y="6569273"/>
            <a:ext cx="708279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Home tiffins don't scale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0706100" y="7112198"/>
            <a:ext cx="6632067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89"/>
              </a:lnSpc>
              <a:buNone/>
            </a:pPr>
            <a:r>
              <a:rPr lang="en-US" sz="2100" dirty="0">
                <a:solidFill>
                  <a:srgbClr val="5E5A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Great home cooks exist, but they have no way to reach customers or handle payments.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4668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5B3F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819275"/>
            <a:ext cx="13735050" cy="1747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679"/>
              </a:lnSpc>
              <a:buNone/>
            </a:pPr>
            <a:r>
              <a:rPr lang="en-US" sz="6600" b="1" spc="-198" kern="0" dirty="0">
                <a:solidFill>
                  <a:srgbClr val="16141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subscription that connects home cooks with nearby offices.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4291013"/>
            <a:ext cx="5130701" cy="4852988"/>
          </a:xfrm>
          <a:prstGeom prst="roundRect">
            <a:avLst>
              <a:gd name="adj" fmla="val 6281"/>
            </a:avLst>
          </a:prstGeom>
          <a:solidFill>
            <a:srgbClr val="ECE7FB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5968603"/>
            <a:ext cx="4637931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9000" b="1" dirty="0">
                <a:solidFill>
                  <a:srgbClr val="5B3FD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₹140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600200" y="7302103"/>
            <a:ext cx="4637931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Fair price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600200" y="7940278"/>
            <a:ext cx="4342790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89"/>
              </a:lnSpc>
              <a:buNone/>
            </a:pPr>
            <a:r>
              <a:rPr lang="en-US" sz="2100" dirty="0">
                <a:solidFill>
                  <a:srgbClr val="4A455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 meal on a monthly plan, delivered.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578501" y="4291013"/>
            <a:ext cx="5130850" cy="4852988"/>
          </a:xfrm>
          <a:prstGeom prst="roundRect">
            <a:avLst>
              <a:gd name="adj" fmla="val 628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035701" y="5968603"/>
            <a:ext cx="463809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9000" b="1" dirty="0">
                <a:solidFill>
                  <a:srgbClr val="16141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 km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7035701" y="7302103"/>
            <a:ext cx="46380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Cooked nearby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035701" y="7940278"/>
            <a:ext cx="4342943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89"/>
              </a:lnSpc>
              <a:buNone/>
            </a:pPr>
            <a:r>
              <a:rPr lang="en-US" sz="2100" dirty="0">
                <a:solidFill>
                  <a:srgbClr val="4A455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meal comes from a vetted kitchen close to the office.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014150" y="4291013"/>
            <a:ext cx="5130850" cy="4852988"/>
          </a:xfrm>
          <a:prstGeom prst="roundRect">
            <a:avLst>
              <a:gd name="adj" fmla="val 628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471350" y="5968603"/>
            <a:ext cx="463809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9000" b="1" dirty="0">
                <a:solidFill>
                  <a:srgbClr val="16141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12:30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12471350" y="7302103"/>
            <a:ext cx="46380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 time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471350" y="7940278"/>
            <a:ext cx="4342943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89"/>
              </a:lnSpc>
              <a:buNone/>
            </a:pPr>
            <a:r>
              <a:rPr lang="en-US" sz="2100" dirty="0">
                <a:solidFill>
                  <a:srgbClr val="4A455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Batched routes land every lunch inside a 15-minute window.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694682"/>
            <a:ext cx="76996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5B3F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PRODUCT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294757"/>
            <a:ext cx="7209675" cy="159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6000" b="1" spc="-180" kern="0" dirty="0">
                <a:solidFill>
                  <a:srgbClr val="16141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Plan a week of lunches in a minute.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1143000" y="5525393"/>
            <a:ext cx="152400" cy="152400"/>
          </a:xfrm>
          <a:prstGeom prst="ellipse">
            <a:avLst/>
          </a:prstGeom>
          <a:solidFill>
            <a:srgbClr val="5B3FD1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5382518"/>
            <a:ext cx="621168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250" b="1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Weekly menu </a:t>
            </a:r>
            <a:pPr algn="l" indent="0" marL="0">
              <a:lnSpc>
                <a:spcPct val="107692"/>
              </a:lnSpc>
              <a:buNone/>
            </a:pPr>
            <a:r>
              <a:rPr lang="en-US" sz="2250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from three kitchens near you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143000" y="6230243"/>
            <a:ext cx="152400" cy="152400"/>
          </a:xfrm>
          <a:prstGeom prst="ellipse">
            <a:avLst/>
          </a:prstGeom>
          <a:solidFill>
            <a:srgbClr val="5B3FD1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6087368"/>
            <a:ext cx="69929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250" b="1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Skip or swap </a:t>
            </a:r>
            <a:pPr algn="l" indent="0" marL="0">
              <a:lnSpc>
                <a:spcPct val="107692"/>
              </a:lnSpc>
              <a:buNone/>
            </a:pPr>
            <a:r>
              <a:rPr lang="en-US" sz="2250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any day until 9 pm the night before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143000" y="6935093"/>
            <a:ext cx="152400" cy="152400"/>
          </a:xfrm>
          <a:prstGeom prst="ellipse">
            <a:avLst/>
          </a:prstGeom>
          <a:solidFill>
            <a:srgbClr val="5B3FD1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6792218"/>
            <a:ext cx="681724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250" b="1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Team billing </a:t>
            </a:r>
            <a:pPr algn="l" indent="0" marL="0">
              <a:lnSpc>
                <a:spcPct val="107692"/>
              </a:lnSpc>
              <a:buNone/>
            </a:pPr>
            <a:r>
              <a:rPr lang="en-US" sz="2250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 companies can cover lunch as a perk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5B3F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MARKET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743075"/>
            <a:ext cx="17602200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6000" b="1" spc="-180" kern="0" dirty="0">
                <a:solidFill>
                  <a:srgbClr val="16141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₹9,000 Cr lunch market in Mumbai alone.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143000" y="4479578"/>
            <a:ext cx="2095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5A6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TAM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429000" y="4022378"/>
            <a:ext cx="13716000" cy="1257300"/>
          </a:xfrm>
          <a:prstGeom prst="roundRect">
            <a:avLst>
              <a:gd name="adj" fmla="val 18182"/>
            </a:avLst>
          </a:prstGeom>
          <a:solidFill>
            <a:srgbClr val="16141B"/>
          </a:solidFill>
          <a:ln/>
        </p:spPr>
      </p:sp>
      <p:sp>
        <p:nvSpPr>
          <p:cNvPr id="6" name="Text 4"/>
          <p:cNvSpPr/>
          <p:nvPr/>
        </p:nvSpPr>
        <p:spPr>
          <a:xfrm>
            <a:off x="3848100" y="4284315"/>
            <a:ext cx="2960057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6F4E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₹9,000 Cr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43861" y="4479578"/>
            <a:ext cx="648033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A9A3B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Weekday lunches bought by 4.2M office workers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6003578"/>
            <a:ext cx="2095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5A6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SAM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5546378"/>
            <a:ext cx="8778180" cy="1257300"/>
          </a:xfrm>
          <a:prstGeom prst="roundRect">
            <a:avLst>
              <a:gd name="adj" fmla="val 18182"/>
            </a:avLst>
          </a:prstGeom>
          <a:solidFill>
            <a:srgbClr val="5B3FD1"/>
          </a:solidFill>
          <a:ln/>
        </p:spPr>
      </p:sp>
      <p:sp>
        <p:nvSpPr>
          <p:cNvPr id="10" name="Text 8"/>
          <p:cNvSpPr/>
          <p:nvPr/>
        </p:nvSpPr>
        <p:spPr>
          <a:xfrm>
            <a:off x="3848100" y="5808315"/>
            <a:ext cx="2724477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₹2,100 Cr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629698" y="6003578"/>
            <a:ext cx="402074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2DAF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Spending ₹100–250 per meal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43000" y="7527578"/>
            <a:ext cx="20955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5A6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SOM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3429000" y="7070378"/>
            <a:ext cx="4663380" cy="1257300"/>
          </a:xfrm>
          <a:prstGeom prst="roundRect">
            <a:avLst>
              <a:gd name="adj" fmla="val 18182"/>
            </a:avLst>
          </a:prstGeom>
          <a:solidFill>
            <a:srgbClr val="ECE7FB"/>
          </a:solidFill>
          <a:ln/>
        </p:spPr>
      </p:sp>
      <p:sp>
        <p:nvSpPr>
          <p:cNvPr id="14" name="Text 12"/>
          <p:cNvSpPr/>
          <p:nvPr/>
        </p:nvSpPr>
        <p:spPr>
          <a:xfrm>
            <a:off x="3848100" y="7332315"/>
            <a:ext cx="2245296" cy="7715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6141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₹180 Cr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194078" y="7527578"/>
            <a:ext cx="839093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A455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Year 3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642295"/>
            <a:ext cx="8172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5B3F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BUSINESS MODEL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318570"/>
            <a:ext cx="7652385" cy="1592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6000" b="1" spc="-180" kern="0" dirty="0">
                <a:solidFill>
                  <a:srgbClr val="16141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Monthly plans, paid upfront.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143000" y="5634930"/>
            <a:ext cx="817245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12000" b="1" spc="-360" kern="0" dirty="0">
                <a:solidFill>
                  <a:srgbClr val="5B3FD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₹2,800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7273230"/>
            <a:ext cx="81724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E5A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 subscriber per month · 20 meals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715500" y="2509838"/>
            <a:ext cx="765238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Unit economics per meal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715500" y="3081338"/>
            <a:ext cx="7429500" cy="19050"/>
          </a:xfrm>
          <a:prstGeom prst="rect">
            <a:avLst/>
          </a:prstGeom>
          <a:solidFill>
            <a:srgbClr val="16141B"/>
          </a:solidFill>
          <a:ln/>
        </p:spPr>
      </p:sp>
      <p:sp>
        <p:nvSpPr>
          <p:cNvPr id="8" name="Text 6"/>
          <p:cNvSpPr/>
          <p:nvPr/>
        </p:nvSpPr>
        <p:spPr>
          <a:xfrm>
            <a:off x="9715500" y="3367088"/>
            <a:ext cx="73922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Price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6459200" y="3367088"/>
            <a:ext cx="7620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6141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₹140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715500" y="4005262"/>
            <a:ext cx="7429500" cy="19050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11" name="Text 9"/>
          <p:cNvSpPr/>
          <p:nvPr/>
        </p:nvSpPr>
        <p:spPr>
          <a:xfrm>
            <a:off x="9715500" y="4291013"/>
            <a:ext cx="267470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E5A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Paid to home cook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6459200" y="4291013"/>
            <a:ext cx="7620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E5A6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−₹78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715500" y="4929188"/>
            <a:ext cx="7429500" cy="19050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5214938"/>
            <a:ext cx="113615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E5A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Delivery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6459200" y="5214938"/>
            <a:ext cx="7620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E5A6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−₹22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715500" y="5853113"/>
            <a:ext cx="7429500" cy="19050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17" name="Text 15"/>
          <p:cNvSpPr/>
          <p:nvPr/>
        </p:nvSpPr>
        <p:spPr>
          <a:xfrm>
            <a:off x="9715500" y="6138863"/>
            <a:ext cx="32702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E5A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Packaging &amp; payments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6630650" y="6138863"/>
            <a:ext cx="5905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E5A6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−₹9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715500" y="6777038"/>
            <a:ext cx="7429500" cy="19050"/>
          </a:xfrm>
          <a:prstGeom prst="rect">
            <a:avLst/>
          </a:prstGeom>
          <a:solidFill>
            <a:srgbClr val="16141B"/>
          </a:solidFill>
          <a:ln/>
        </p:spPr>
      </p:sp>
      <p:sp>
        <p:nvSpPr>
          <p:cNvPr id="20" name="Text 18"/>
          <p:cNvSpPr/>
          <p:nvPr/>
        </p:nvSpPr>
        <p:spPr>
          <a:xfrm>
            <a:off x="9715500" y="7062788"/>
            <a:ext cx="3598858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Contribution margin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5293280" y="7062788"/>
            <a:ext cx="2036891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B3F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₹31 · 22%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B3F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719755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E2DAF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TRACTION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819275"/>
            <a:ext cx="7197551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167"/>
              </a:lnSpc>
              <a:buNone/>
            </a:pPr>
            <a:r>
              <a:rPr lang="en-US" sz="15000" b="1" spc="-600" kern="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3,400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143000" y="3743325"/>
            <a:ext cx="7197551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E2DAF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paying subscribers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43000" y="7610475"/>
            <a:ext cx="6543229" cy="1905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8010525"/>
            <a:ext cx="3389144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38%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143000" y="8820150"/>
            <a:ext cx="338914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2DAF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month-on-month growth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605040" y="8010525"/>
            <a:ext cx="3389308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84%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605040" y="8820150"/>
            <a:ext cx="338930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2DAF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renew after month one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8638729" y="8207425"/>
            <a:ext cx="896541" cy="450800"/>
          </a:xfrm>
          <a:custGeom>
            <a:avLst/>
            <a:gdLst/>
            <a:ahLst/>
            <a:cxnLst/>
            <a:rect l="l" t="t" r="r" b="b"/>
            <a:pathLst>
              <a:path w="896541" h="450800">
                <a:moveTo>
                  <a:pt x="114300" y="0"/>
                </a:moveTo>
                <a:lnTo>
                  <a:pt x="782241" y="0"/>
                </a:lnTo>
                <a:arcTo hR="114300" wR="114300" stAng="16200000" swAng="5400000"/>
                <a:lnTo>
                  <a:pt x="896541" y="450800"/>
                </a:lnTo>
                <a:lnTo>
                  <a:pt x="0" y="450800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FFFFF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725769" y="7981950"/>
            <a:ext cx="896541" cy="676275"/>
          </a:xfrm>
          <a:custGeom>
            <a:avLst/>
            <a:gdLst/>
            <a:ahLst/>
            <a:cxnLst/>
            <a:rect l="l" t="t" r="r" b="b"/>
            <a:pathLst>
              <a:path w="896541" h="676275">
                <a:moveTo>
                  <a:pt x="114300" y="0"/>
                </a:moveTo>
                <a:lnTo>
                  <a:pt x="782241" y="0"/>
                </a:lnTo>
                <a:arcTo hR="114300" wR="114300" stAng="16200000" swAng="5400000"/>
                <a:lnTo>
                  <a:pt x="896541" y="676275"/>
                </a:lnTo>
                <a:lnTo>
                  <a:pt x="0" y="676275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FFFFF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812810" y="7606159"/>
            <a:ext cx="896689" cy="1052066"/>
          </a:xfrm>
          <a:custGeom>
            <a:avLst/>
            <a:gdLst/>
            <a:ahLst/>
            <a:cxnLst/>
            <a:rect l="l" t="t" r="r" b="b"/>
            <a:pathLst>
              <a:path w="896689" h="1052066">
                <a:moveTo>
                  <a:pt x="114300" y="0"/>
                </a:moveTo>
                <a:lnTo>
                  <a:pt x="782389" y="0"/>
                </a:lnTo>
                <a:arcTo hR="114300" wR="114300" stAng="16200000" swAng="5400000"/>
                <a:lnTo>
                  <a:pt x="896689" y="1052066"/>
                </a:lnTo>
                <a:lnTo>
                  <a:pt x="0" y="1052066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FFFFF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899999" y="7080052"/>
            <a:ext cx="896541" cy="1578173"/>
          </a:xfrm>
          <a:custGeom>
            <a:avLst/>
            <a:gdLst/>
            <a:ahLst/>
            <a:cxnLst/>
            <a:rect l="l" t="t" r="r" b="b"/>
            <a:pathLst>
              <a:path w="896541" h="1578173">
                <a:moveTo>
                  <a:pt x="114300" y="0"/>
                </a:moveTo>
                <a:lnTo>
                  <a:pt x="782241" y="0"/>
                </a:lnTo>
                <a:arcTo hR="114300" wR="114300" stAng="16200000" swAng="5400000"/>
                <a:lnTo>
                  <a:pt x="896541" y="1578173"/>
                </a:lnTo>
                <a:lnTo>
                  <a:pt x="0" y="1578173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FFFFF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2987040" y="6328618"/>
            <a:ext cx="896541" cy="2329607"/>
          </a:xfrm>
          <a:custGeom>
            <a:avLst/>
            <a:gdLst/>
            <a:ahLst/>
            <a:cxnLst/>
            <a:rect l="l" t="t" r="r" b="b"/>
            <a:pathLst>
              <a:path w="896541" h="2329607">
                <a:moveTo>
                  <a:pt x="114300" y="0"/>
                </a:moveTo>
                <a:lnTo>
                  <a:pt x="782241" y="0"/>
                </a:lnTo>
                <a:arcTo hR="114300" wR="114300" stAng="16200000" swAng="5400000"/>
                <a:lnTo>
                  <a:pt x="896541" y="2329607"/>
                </a:lnTo>
                <a:lnTo>
                  <a:pt x="0" y="2329607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FFFFF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074080" y="5201245"/>
            <a:ext cx="896689" cy="3456980"/>
          </a:xfrm>
          <a:custGeom>
            <a:avLst/>
            <a:gdLst/>
            <a:ahLst/>
            <a:cxnLst/>
            <a:rect l="l" t="t" r="r" b="b"/>
            <a:pathLst>
              <a:path w="896689" h="3456980">
                <a:moveTo>
                  <a:pt x="114300" y="0"/>
                </a:moveTo>
                <a:lnTo>
                  <a:pt x="782389" y="0"/>
                </a:lnTo>
                <a:arcTo hR="114300" wR="114300" stAng="16200000" swAng="5400000"/>
                <a:lnTo>
                  <a:pt x="896689" y="3456980"/>
                </a:lnTo>
                <a:lnTo>
                  <a:pt x="0" y="3456980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FFFFF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5161270" y="3547914"/>
            <a:ext cx="896541" cy="5110311"/>
          </a:xfrm>
          <a:custGeom>
            <a:avLst/>
            <a:gdLst/>
            <a:ahLst/>
            <a:cxnLst/>
            <a:rect l="l" t="t" r="r" b="b"/>
            <a:pathLst>
              <a:path w="896541" h="5110311">
                <a:moveTo>
                  <a:pt x="114300" y="0"/>
                </a:moveTo>
                <a:lnTo>
                  <a:pt x="782241" y="0"/>
                </a:lnTo>
                <a:arcTo hR="114300" wR="114300" stAng="16200000" swAng="5400000"/>
                <a:lnTo>
                  <a:pt x="896541" y="5110311"/>
                </a:lnTo>
                <a:lnTo>
                  <a:pt x="0" y="5110311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FFFFF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48311" y="1143000"/>
            <a:ext cx="896689" cy="7515225"/>
          </a:xfrm>
          <a:custGeom>
            <a:avLst/>
            <a:gdLst/>
            <a:ahLst/>
            <a:cxnLst/>
            <a:rect l="l" t="t" r="r" b="b"/>
            <a:pathLst>
              <a:path w="896689" h="7515225">
                <a:moveTo>
                  <a:pt x="114300" y="0"/>
                </a:moveTo>
                <a:lnTo>
                  <a:pt x="782389" y="0"/>
                </a:lnTo>
                <a:arcTo hR="114300" wR="114300" stAng="16200000" swAng="5400000"/>
                <a:lnTo>
                  <a:pt x="896689" y="7515225"/>
                </a:lnTo>
                <a:lnTo>
                  <a:pt x="0" y="7515225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600629" y="8848725"/>
            <a:ext cx="9727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2DAF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Mar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87669" y="8848725"/>
            <a:ext cx="9727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2DAF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Apr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774710" y="8848725"/>
            <a:ext cx="9728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2DAF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May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61899" y="8848725"/>
            <a:ext cx="9727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2DAF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Jun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948940" y="8848725"/>
            <a:ext cx="9727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2DAF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Jul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035980" y="8848725"/>
            <a:ext cx="9728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2DAF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Aug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123170" y="8848725"/>
            <a:ext cx="9727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2DAF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Sep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210211" y="8848725"/>
            <a:ext cx="9728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2DAF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Oct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5B3F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COMPETITION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743075"/>
            <a:ext cx="17602200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6000" b="1" spc="-180" kern="0" dirty="0">
                <a:solidFill>
                  <a:srgbClr val="16141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only option that's cheap, healthy and reliable.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672138" y="3969990"/>
            <a:ext cx="29432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5E5A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Under ₹150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8529638" y="3969990"/>
            <a:ext cx="29432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5E5A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Home-style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1387138" y="3969990"/>
            <a:ext cx="29432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5E5A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 time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244638" y="3969990"/>
            <a:ext cx="29432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5E5A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Subscription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143000" y="4570065"/>
            <a:ext cx="4572000" cy="981075"/>
          </a:xfrm>
          <a:custGeom>
            <a:avLst/>
            <a:gdLst/>
            <a:ahLst/>
            <a:cxnLst/>
            <a:rect l="l" t="t" r="r" b="b"/>
            <a:pathLst>
              <a:path w="4572000" h="981075">
                <a:moveTo>
                  <a:pt x="228600" y="0"/>
                </a:moveTo>
                <a:lnTo>
                  <a:pt x="4572000" y="0"/>
                </a:lnTo>
                <a:lnTo>
                  <a:pt x="4572000" y="981075"/>
                </a:lnTo>
                <a:lnTo>
                  <a:pt x="228600" y="981075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16141B"/>
          </a:solidFill>
          <a:ln/>
        </p:spPr>
      </p:sp>
      <p:sp>
        <p:nvSpPr>
          <p:cNvPr id="9" name="Text 7"/>
          <p:cNvSpPr/>
          <p:nvPr/>
        </p:nvSpPr>
        <p:spPr>
          <a:xfrm>
            <a:off x="1447800" y="4874865"/>
            <a:ext cx="40995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Tiffinly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5715000" y="4570065"/>
            <a:ext cx="2857500" cy="981075"/>
          </a:xfrm>
          <a:prstGeom prst="rect">
            <a:avLst/>
          </a:prstGeom>
          <a:solidFill>
            <a:srgbClr val="16141B"/>
          </a:solidFill>
          <a:ln/>
        </p:spPr>
      </p:sp>
      <p:sp>
        <p:nvSpPr>
          <p:cNvPr id="11" name="Text 9"/>
          <p:cNvSpPr/>
          <p:nvPr/>
        </p:nvSpPr>
        <p:spPr>
          <a:xfrm>
            <a:off x="5672138" y="4874865"/>
            <a:ext cx="29432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8B6F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●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8572500" y="4570065"/>
            <a:ext cx="2857500" cy="981075"/>
          </a:xfrm>
          <a:prstGeom prst="rect">
            <a:avLst/>
          </a:prstGeom>
          <a:solidFill>
            <a:srgbClr val="16141B"/>
          </a:solidFill>
          <a:ln/>
        </p:spPr>
      </p:sp>
      <p:sp>
        <p:nvSpPr>
          <p:cNvPr id="13" name="Text 11"/>
          <p:cNvSpPr/>
          <p:nvPr/>
        </p:nvSpPr>
        <p:spPr>
          <a:xfrm>
            <a:off x="8529638" y="4874865"/>
            <a:ext cx="29432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8B6F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●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1430000" y="4570065"/>
            <a:ext cx="2857500" cy="981075"/>
          </a:xfrm>
          <a:prstGeom prst="rect">
            <a:avLst/>
          </a:prstGeom>
          <a:solidFill>
            <a:srgbClr val="16141B"/>
          </a:solidFill>
          <a:ln/>
        </p:spPr>
      </p:sp>
      <p:sp>
        <p:nvSpPr>
          <p:cNvPr id="15" name="Text 13"/>
          <p:cNvSpPr/>
          <p:nvPr/>
        </p:nvSpPr>
        <p:spPr>
          <a:xfrm>
            <a:off x="11387138" y="4874865"/>
            <a:ext cx="29432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8B6F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●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4287500" y="4570065"/>
            <a:ext cx="2857500" cy="981075"/>
          </a:xfrm>
          <a:custGeom>
            <a:avLst/>
            <a:gdLst/>
            <a:ahLst/>
            <a:cxnLst/>
            <a:rect l="l" t="t" r="r" b="b"/>
            <a:pathLst>
              <a:path w="2857500" h="981075">
                <a:moveTo>
                  <a:pt x="0" y="0"/>
                </a:moveTo>
                <a:lnTo>
                  <a:pt x="2628900" y="0"/>
                </a:lnTo>
                <a:arcTo hR="228600" wR="228600" stAng="16200000" swAng="5400000"/>
                <a:lnTo>
                  <a:pt x="2857500" y="752475"/>
                </a:lnTo>
                <a:arcTo hR="228600" wR="228600" stAng="0" swAng="5400000"/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solidFill>
            <a:srgbClr val="16141B"/>
          </a:solidFill>
          <a:ln/>
        </p:spPr>
      </p:sp>
      <p:sp>
        <p:nvSpPr>
          <p:cNvPr id="17" name="Text 15"/>
          <p:cNvSpPr/>
          <p:nvPr/>
        </p:nvSpPr>
        <p:spPr>
          <a:xfrm>
            <a:off x="14244638" y="4874865"/>
            <a:ext cx="29432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8B6F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●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143000" y="6532215"/>
            <a:ext cx="4572000" cy="19050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19" name="Text 17"/>
          <p:cNvSpPr/>
          <p:nvPr/>
        </p:nvSpPr>
        <p:spPr>
          <a:xfrm>
            <a:off x="1447800" y="5855940"/>
            <a:ext cx="40995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Food delivery apps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5715000" y="6532215"/>
            <a:ext cx="2857500" cy="19050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21" name="Text 19"/>
          <p:cNvSpPr/>
          <p:nvPr/>
        </p:nvSpPr>
        <p:spPr>
          <a:xfrm>
            <a:off x="5672138" y="5855940"/>
            <a:ext cx="29432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B7B2B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–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8572500" y="6532215"/>
            <a:ext cx="2857500" cy="19050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23" name="Text 21"/>
          <p:cNvSpPr/>
          <p:nvPr/>
        </p:nvSpPr>
        <p:spPr>
          <a:xfrm>
            <a:off x="8529638" y="5855940"/>
            <a:ext cx="29432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B7B2B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–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1430000" y="6532215"/>
            <a:ext cx="2857500" cy="19050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25" name="Text 23"/>
          <p:cNvSpPr/>
          <p:nvPr/>
        </p:nvSpPr>
        <p:spPr>
          <a:xfrm>
            <a:off x="11387138" y="5855940"/>
            <a:ext cx="29432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5B3FD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●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4287500" y="6532215"/>
            <a:ext cx="2857500" cy="19050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27" name="Text 25"/>
          <p:cNvSpPr/>
          <p:nvPr/>
        </p:nvSpPr>
        <p:spPr>
          <a:xfrm>
            <a:off x="14244638" y="5855940"/>
            <a:ext cx="29432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B7B2B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–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143000" y="7532340"/>
            <a:ext cx="4572000" cy="19050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29" name="Text 27"/>
          <p:cNvSpPr/>
          <p:nvPr/>
        </p:nvSpPr>
        <p:spPr>
          <a:xfrm>
            <a:off x="1447800" y="6856065"/>
            <a:ext cx="40995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Cloud kitchens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5715000" y="7532340"/>
            <a:ext cx="2857500" cy="19050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31" name="Text 29"/>
          <p:cNvSpPr/>
          <p:nvPr/>
        </p:nvSpPr>
        <p:spPr>
          <a:xfrm>
            <a:off x="5672138" y="6856065"/>
            <a:ext cx="29432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5B3FD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●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8572500" y="7532340"/>
            <a:ext cx="2857500" cy="19050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33" name="Text 31"/>
          <p:cNvSpPr/>
          <p:nvPr/>
        </p:nvSpPr>
        <p:spPr>
          <a:xfrm>
            <a:off x="8529638" y="6856065"/>
            <a:ext cx="29432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B7B2B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–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11430000" y="7532340"/>
            <a:ext cx="2857500" cy="19050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35" name="Text 33"/>
          <p:cNvSpPr/>
          <p:nvPr/>
        </p:nvSpPr>
        <p:spPr>
          <a:xfrm>
            <a:off x="11387138" y="6856065"/>
            <a:ext cx="29432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5B3FD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●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14287500" y="7532340"/>
            <a:ext cx="2857500" cy="19050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37" name="Text 35"/>
          <p:cNvSpPr/>
          <p:nvPr/>
        </p:nvSpPr>
        <p:spPr>
          <a:xfrm>
            <a:off x="14244638" y="6856065"/>
            <a:ext cx="29432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B7B2B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–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447800" y="7856190"/>
            <a:ext cx="40995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Local tiffin services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5672138" y="7856190"/>
            <a:ext cx="29432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5B3FD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●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8529638" y="7856190"/>
            <a:ext cx="29432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5B3FD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●</a:t>
            </a:r>
            <a:endParaRPr lang="en-US" sz="2250" dirty="0"/>
          </a:p>
        </p:txBody>
      </p:sp>
      <p:sp>
        <p:nvSpPr>
          <p:cNvPr id="41" name="Text 39"/>
          <p:cNvSpPr/>
          <p:nvPr/>
        </p:nvSpPr>
        <p:spPr>
          <a:xfrm>
            <a:off x="11387138" y="7856190"/>
            <a:ext cx="29432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B7B2B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–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14244638" y="7856190"/>
            <a:ext cx="29432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5B3FD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●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5B3F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TEAM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743075"/>
            <a:ext cx="17602200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6000" b="1" spc="-180" kern="0" dirty="0">
                <a:solidFill>
                  <a:srgbClr val="16141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Operators who've built food logistics before.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143000" y="7244655"/>
            <a:ext cx="4086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Ananya Rao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143000" y="7720905"/>
            <a:ext cx="40862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3FD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CEO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3000" y="8101905"/>
            <a:ext cx="3826193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1950" dirty="0">
                <a:solidFill>
                  <a:srgbClr val="5E5A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Ran city ops at a quick-commerce startup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238750" y="7244655"/>
            <a:ext cx="4086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Kabir Shah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5238750" y="7720905"/>
            <a:ext cx="40862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3FD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CTO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238750" y="8101905"/>
            <a:ext cx="3826193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1950" dirty="0">
                <a:solidFill>
                  <a:srgbClr val="5E5A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Built routing systems for 2M daily orders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334500" y="7244655"/>
            <a:ext cx="4086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Meera Iyer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334500" y="7720905"/>
            <a:ext cx="40862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3FD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Head of Kitchens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334500" y="8101905"/>
            <a:ext cx="3826193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1950" dirty="0">
                <a:solidFill>
                  <a:srgbClr val="5E5A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Onboarded 400 home chefs in Pune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430250" y="7244655"/>
            <a:ext cx="4086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6141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Rohan Desai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3430250" y="7720905"/>
            <a:ext cx="40862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3FD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Head of Growth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430250" y="8101905"/>
            <a:ext cx="3826193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059"/>
              </a:lnSpc>
              <a:buNone/>
            </a:pPr>
            <a:r>
              <a:rPr lang="en-US" sz="1950" dirty="0">
                <a:solidFill>
                  <a:srgbClr val="5E5A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Grew B2B sales at a meal-kit brand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7602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9A3B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ASK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2047875"/>
            <a:ext cx="4889882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6500" b="1" spc="-660" kern="0" dirty="0">
                <a:solidFill>
                  <a:srgbClr val="F6F4E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₹4 Cr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6159847" y="2392859"/>
            <a:ext cx="7456170" cy="1426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404"/>
              </a:lnSpc>
              <a:buNone/>
            </a:pPr>
            <a:r>
              <a:rPr lang="en-US" sz="2700" dirty="0">
                <a:solidFill>
                  <a:srgbClr val="D9D4E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Seed round to reach 25,000 subscribers across 6 Mumbai business districts in 18 months.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43000" y="4543425"/>
            <a:ext cx="6332190" cy="266700"/>
          </a:xfrm>
          <a:prstGeom prst="rect">
            <a:avLst/>
          </a:prstGeom>
          <a:solidFill>
            <a:srgbClr val="8B6FF0"/>
          </a:solidFill>
          <a:ln/>
        </p:spPr>
      </p:sp>
      <p:sp>
        <p:nvSpPr>
          <p:cNvPr id="6" name="Shape 4"/>
          <p:cNvSpPr/>
          <p:nvPr/>
        </p:nvSpPr>
        <p:spPr>
          <a:xfrm>
            <a:off x="7532340" y="4543425"/>
            <a:ext cx="4749105" cy="266700"/>
          </a:xfrm>
          <a:prstGeom prst="rect">
            <a:avLst/>
          </a:prstGeom>
          <a:solidFill>
            <a:srgbClr val="B9A8F6"/>
          </a:solidFill>
          <a:ln/>
        </p:spPr>
      </p:sp>
      <p:sp>
        <p:nvSpPr>
          <p:cNvPr id="7" name="Shape 5"/>
          <p:cNvSpPr/>
          <p:nvPr/>
        </p:nvSpPr>
        <p:spPr>
          <a:xfrm>
            <a:off x="12338596" y="4543425"/>
            <a:ext cx="3166170" cy="266700"/>
          </a:xfrm>
          <a:prstGeom prst="rect">
            <a:avLst/>
          </a:prstGeom>
          <a:solidFill>
            <a:srgbClr val="E2DAFB"/>
          </a:solidFill>
          <a:ln/>
        </p:spPr>
      </p:sp>
      <p:sp>
        <p:nvSpPr>
          <p:cNvPr id="8" name="Shape 6"/>
          <p:cNvSpPr/>
          <p:nvPr/>
        </p:nvSpPr>
        <p:spPr>
          <a:xfrm>
            <a:off x="15561915" y="4543425"/>
            <a:ext cx="1583085" cy="266700"/>
          </a:xfrm>
          <a:prstGeom prst="rect">
            <a:avLst/>
          </a:prstGeom>
          <a:solidFill>
            <a:srgbClr val="5E5A66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5076825"/>
            <a:ext cx="696540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6FF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40%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43000" y="5457825"/>
            <a:ext cx="696540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6F4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Kitchen network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532340" y="5076825"/>
            <a:ext cx="522401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9A8F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30%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532340" y="5457825"/>
            <a:ext cx="522401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6F4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Delivery ops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338596" y="5076825"/>
            <a:ext cx="34827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2DAF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20%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338596" y="5457825"/>
            <a:ext cx="34827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6F4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Tech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5561915" y="5076825"/>
            <a:ext cx="17413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9A3B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10%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5561915" y="5457825"/>
            <a:ext cx="17413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6F4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Team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43000" y="8772525"/>
            <a:ext cx="250461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6F4E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ananya@tiffinly.in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5916721" y="8686800"/>
            <a:ext cx="135110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6F4E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Tiffinly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2026-10-23T11:02:57Z</dcterms:created>
  <dcterms:modified xsi:type="dcterms:W3CDTF">2026-10-23T11:02:57Z</dcterms:modified>
</cp:coreProperties>
</file>