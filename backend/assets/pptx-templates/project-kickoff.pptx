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project name, one-line goal, project lead, team, kickoff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the current system or process, and up to three problems it causes with a number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up to five in-scope and up to four out-of-scope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sponsor, project lead, and up to four workstream owners with their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up to six workstreams with start and end month, and key milestone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up to five risks, each with likelihood, impact and a mitigation.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recurring meetings with day and time, tools used, and decision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up to five immediate actions with owner and due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FC0E9">
                  <a:alpha val="12000"/>
                </a:srgbClr>
              </a:gs>
              <a:gs pos="100000">
                <a:srgbClr val="8FC0E9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7373600" cy="9372600"/>
          </a:xfrm>
          <a:prstGeom prst="rect">
            <a:avLst/>
          </a:prstGeom>
          <a:ln w="28575">
            <a:solidFill>
              <a:srgbClr val="8FC0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43025" y="2343150"/>
            <a:ext cx="171621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DWG-001 · PROJECT KICKOFF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343025" y="3009900"/>
            <a:ext cx="16070009" cy="381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041"/>
              </a:lnSpc>
              <a:buNone/>
            </a:pPr>
            <a:r>
              <a:rPr lang="en-US" sz="16500" b="1" spc="-495" kern="0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PROJECT </a:t>
            </a:r>
            <a:pPr algn="l" indent="0" marL="0">
              <a:lnSpc>
                <a:spcPct val="68041"/>
              </a:lnSpc>
              <a:buNone/>
            </a:pPr>
            <a:r>
              <a:rPr lang="en-US" sz="16500" b="1" spc="-495" kern="0" dirty="0">
                <a:solidFill>
                  <a:srgbClr val="000000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ATLAS</a:t>
            </a:r>
            <a:endParaRPr lang="en-US" sz="16500" dirty="0"/>
          </a:p>
        </p:txBody>
      </p:sp>
      <p:sp>
        <p:nvSpPr>
          <p:cNvPr id="6" name="Text 4"/>
          <p:cNvSpPr/>
          <p:nvPr/>
        </p:nvSpPr>
        <p:spPr>
          <a:xfrm>
            <a:off x="1343025" y="7124700"/>
            <a:ext cx="115252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13"/>
              </a:lnSpc>
              <a:buNone/>
            </a:pPr>
            <a:r>
              <a:rPr lang="en-US" sz="3000" dirty="0">
                <a:solidFill>
                  <a:srgbClr val="B9D3EA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Replace warehouse software across 4 sites by October 2027.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85775" y="8620125"/>
            <a:ext cx="17316450" cy="28575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8" name="Shape 6"/>
          <p:cNvSpPr/>
          <p:nvPr/>
        </p:nvSpPr>
        <p:spPr>
          <a:xfrm>
            <a:off x="7383661" y="8648700"/>
            <a:ext cx="28575" cy="1152525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9" name="Text 7"/>
          <p:cNvSpPr/>
          <p:nvPr/>
        </p:nvSpPr>
        <p:spPr>
          <a:xfrm>
            <a:off x="752475" y="8858250"/>
            <a:ext cx="70009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LEAD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2475" y="9210675"/>
            <a:ext cx="700093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8F1F8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Arjun Pillai · Supply Chain &amp; IT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847040" y="8648700"/>
            <a:ext cx="28575" cy="1152525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12" name="Text 10"/>
          <p:cNvSpPr/>
          <p:nvPr/>
        </p:nvSpPr>
        <p:spPr>
          <a:xfrm>
            <a:off x="7678936" y="8858250"/>
            <a:ext cx="31915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DATE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78936" y="9210675"/>
            <a:ext cx="31915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8F1F8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03.03.27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4310271" y="8648700"/>
            <a:ext cx="28575" cy="1152525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15" name="Text 13"/>
          <p:cNvSpPr/>
          <p:nvPr/>
        </p:nvSpPr>
        <p:spPr>
          <a:xfrm>
            <a:off x="11142315" y="8858250"/>
            <a:ext cx="31913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REV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142315" y="9210675"/>
            <a:ext cx="319138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8F1F8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A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4605546" y="8858250"/>
            <a:ext cx="32229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SHEET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05546" y="9210675"/>
            <a:ext cx="322297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8F1F8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01 / 08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0" cy="9372600"/>
          </a:xfrm>
          <a:prstGeom prst="rect">
            <a:avLst/>
          </a:prstGeom>
          <a:ln w="28575">
            <a:solidFill>
              <a:srgbClr val="8FC0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7275" y="942975"/>
            <a:ext cx="19614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02 · WHY NOW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57275" y="1438275"/>
            <a:ext cx="1015237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The old system is the bottleneck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57275" y="4295775"/>
            <a:ext cx="4191000" cy="2286000"/>
          </a:xfrm>
          <a:prstGeom prst="rect">
            <a:avLst/>
          </a:prstGeom>
          <a:solidFill>
            <a:srgbClr val="F4D35E"/>
          </a:solidFill>
          <a:ln/>
        </p:spPr>
      </p:sp>
      <p:sp>
        <p:nvSpPr>
          <p:cNvPr id="6" name="Text 4"/>
          <p:cNvSpPr/>
          <p:nvPr/>
        </p:nvSpPr>
        <p:spPr>
          <a:xfrm>
            <a:off x="1400175" y="4638675"/>
            <a:ext cx="38557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CURRENT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00175" y="5318820"/>
            <a:ext cx="3610356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80"/>
              </a:lnSpc>
              <a:buNone/>
            </a:pPr>
            <a:r>
              <a:rPr lang="en-US" sz="3450" b="1" dirty="0">
                <a:solidFill>
                  <a:srgbClr val="0B254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2014 warehouse system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5248275" y="5419725"/>
            <a:ext cx="5905500" cy="28575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9" name="Shape 7"/>
          <p:cNvSpPr/>
          <p:nvPr/>
        </p:nvSpPr>
        <p:spPr>
          <a:xfrm>
            <a:off x="11153775" y="3581400"/>
            <a:ext cx="28575" cy="4410075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3775" y="3581400"/>
            <a:ext cx="1714500" cy="28575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11" name="Shape 9"/>
          <p:cNvSpPr/>
          <p:nvPr/>
        </p:nvSpPr>
        <p:spPr>
          <a:xfrm>
            <a:off x="11153775" y="5772150"/>
            <a:ext cx="1714500" cy="28575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53775" y="7962900"/>
            <a:ext cx="1714500" cy="28575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13" name="Shape 11"/>
          <p:cNvSpPr/>
          <p:nvPr/>
        </p:nvSpPr>
        <p:spPr>
          <a:xfrm>
            <a:off x="12773025" y="2867025"/>
            <a:ext cx="4476750" cy="1762125"/>
          </a:xfrm>
          <a:prstGeom prst="rect">
            <a:avLst/>
          </a:prstGeom>
          <a:solidFill>
            <a:srgbClr val="0B2545"/>
          </a:solidFill>
          <a:ln w="28575">
            <a:solidFill>
              <a:srgbClr val="8FC0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06400" y="3162300"/>
            <a:ext cx="41910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4D35E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3.5 hrs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3106400" y="3971925"/>
            <a:ext cx="268944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9D3EA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picking delay at peak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2773025" y="5057775"/>
            <a:ext cx="4476750" cy="1762125"/>
          </a:xfrm>
          <a:prstGeom prst="rect">
            <a:avLst/>
          </a:prstGeom>
          <a:solidFill>
            <a:srgbClr val="0B2545"/>
          </a:solidFill>
          <a:ln w="28575">
            <a:solidFill>
              <a:srgbClr val="8FC0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106400" y="5353050"/>
            <a:ext cx="41910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4D35E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2.8%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3106400" y="6162675"/>
            <a:ext cx="343776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9D3EA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orders with the wrong item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2773025" y="7248525"/>
            <a:ext cx="4476750" cy="1762125"/>
          </a:xfrm>
          <a:prstGeom prst="rect">
            <a:avLst/>
          </a:prstGeom>
          <a:solidFill>
            <a:srgbClr val="0B2545"/>
          </a:solidFill>
          <a:ln w="28575">
            <a:solidFill>
              <a:srgbClr val="8FC0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106400" y="7543800"/>
            <a:ext cx="41910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4D35E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Dec 2027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13106400" y="8353425"/>
            <a:ext cx="269795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9D3EA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vendor support ends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5752415" y="9315450"/>
            <a:ext cx="19614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SHEET 02 / 08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0" cy="9372600"/>
          </a:xfrm>
          <a:prstGeom prst="rect">
            <a:avLst/>
          </a:prstGeom>
          <a:ln w="28575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5775" y="2057400"/>
            <a:ext cx="17316450" cy="28575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1057275" y="866775"/>
            <a:ext cx="1976155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B254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Scope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270486" y="1257300"/>
            <a:ext cx="10364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03 / 08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15425" y="2085975"/>
            <a:ext cx="28575" cy="771525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275" y="2619375"/>
            <a:ext cx="823531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6CA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IN SCOPE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57275" y="3533775"/>
            <a:ext cx="7711250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[x] Inventory &amp; picking, 4 sites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057275" y="5153025"/>
            <a:ext cx="823531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[x] Scanners for 220 staff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057275" y="6191250"/>
            <a:ext cx="823531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[x] Order system integration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1057275" y="7229475"/>
            <a:ext cx="7711250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[x] Training &amp; go-live support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9715500" y="2619375"/>
            <a:ext cx="826674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OUT OF SCOPE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715500" y="3533775"/>
            <a:ext cx="7740682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5A6B8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[ ] Transport &amp; fleet tracking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9715500" y="5153025"/>
            <a:ext cx="8266748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5A6B8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[ ] Finance &amp; invoicing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9715500" y="6191250"/>
            <a:ext cx="8266748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5A6B8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[ ] New warehouse locations</a:t>
            </a:r>
            <a:endParaRPr lang="en-US" sz="3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0" cy="9372600"/>
          </a:xfrm>
          <a:prstGeom prst="rect">
            <a:avLst/>
          </a:prstGeom>
          <a:ln w="28575">
            <a:solidFill>
              <a:srgbClr val="8FC0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7275" y="904875"/>
            <a:ext cx="4885134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Who owns what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6270486" y="1295400"/>
            <a:ext cx="10364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04 / 08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27614" y="1985963"/>
            <a:ext cx="5032772" cy="1543050"/>
          </a:xfrm>
          <a:prstGeom prst="rect">
            <a:avLst/>
          </a:prstGeom>
          <a:ln w="28575">
            <a:solidFill>
              <a:srgbClr val="8FC0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77968" y="2319338"/>
            <a:ext cx="413206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SPONSOR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077968" y="2643188"/>
            <a:ext cx="413206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Lakshmi Nair · COO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129713" y="3529013"/>
            <a:ext cx="28575" cy="762000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9" name="Shape 7"/>
          <p:cNvSpPr/>
          <p:nvPr/>
        </p:nvSpPr>
        <p:spPr>
          <a:xfrm>
            <a:off x="7077224" y="4291013"/>
            <a:ext cx="4133552" cy="1714500"/>
          </a:xfrm>
          <a:prstGeom prst="rect">
            <a:avLst/>
          </a:prstGeom>
          <a:solidFill>
            <a:srgbClr val="F4D35E"/>
          </a:solidFill>
          <a:ln/>
        </p:spPr>
      </p:sp>
      <p:sp>
        <p:nvSpPr>
          <p:cNvPr id="10" name="Text 8"/>
          <p:cNvSpPr/>
          <p:nvPr/>
        </p:nvSpPr>
        <p:spPr>
          <a:xfrm>
            <a:off x="7624926" y="4633913"/>
            <a:ext cx="303814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PROJECT LEAD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624926" y="4957763"/>
            <a:ext cx="303814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254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Arjun Pillai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9129713" y="6005513"/>
            <a:ext cx="28575" cy="762000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6366" y="6767513"/>
            <a:ext cx="12615267" cy="28575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14" name="Shape 12"/>
          <p:cNvSpPr/>
          <p:nvPr/>
        </p:nvSpPr>
        <p:spPr>
          <a:xfrm>
            <a:off x="2921794" y="6796088"/>
            <a:ext cx="28575" cy="685800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275" y="7481887"/>
            <a:ext cx="3757613" cy="1628775"/>
          </a:xfrm>
          <a:prstGeom prst="rect">
            <a:avLst/>
          </a:prstGeom>
          <a:ln w="28575">
            <a:solidFill>
              <a:srgbClr val="8FC0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287" y="7891463"/>
            <a:ext cx="356758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TECH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538808" y="8215313"/>
            <a:ext cx="279454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Farhan Qureshi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7060406" y="6796088"/>
            <a:ext cx="28575" cy="685800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19" name="Shape 17"/>
          <p:cNvSpPr/>
          <p:nvPr/>
        </p:nvSpPr>
        <p:spPr>
          <a:xfrm>
            <a:off x="5195888" y="7481887"/>
            <a:ext cx="3757613" cy="1628775"/>
          </a:xfrm>
          <a:prstGeom prst="rect">
            <a:avLst/>
          </a:prstGeom>
          <a:ln w="28575">
            <a:solidFill>
              <a:srgbClr val="8FC0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90899" y="7891463"/>
            <a:ext cx="356758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SITES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5300402" y="8215313"/>
            <a:ext cx="354843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4 warehouse heads</a:t>
            </a:r>
            <a:endParaRPr lang="en-US" sz="2850" dirty="0"/>
          </a:p>
        </p:txBody>
      </p:sp>
      <p:sp>
        <p:nvSpPr>
          <p:cNvPr id="22" name="Shape 20"/>
          <p:cNvSpPr/>
          <p:nvPr/>
        </p:nvSpPr>
        <p:spPr>
          <a:xfrm>
            <a:off x="11199019" y="6796088"/>
            <a:ext cx="28575" cy="685800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23" name="Shape 21"/>
          <p:cNvSpPr/>
          <p:nvPr/>
        </p:nvSpPr>
        <p:spPr>
          <a:xfrm>
            <a:off x="9334500" y="7481887"/>
            <a:ext cx="3757613" cy="1628775"/>
          </a:xfrm>
          <a:prstGeom prst="rect">
            <a:avLst/>
          </a:prstGeom>
          <a:ln w="28575">
            <a:solidFill>
              <a:srgbClr val="8FC0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29512" y="7891463"/>
            <a:ext cx="356758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TRAINING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0092385" y="8215313"/>
            <a:ext cx="224169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Sneha Joshi</a:t>
            </a:r>
            <a:endParaRPr lang="en-US" sz="2850" dirty="0"/>
          </a:p>
        </p:txBody>
      </p:sp>
      <p:sp>
        <p:nvSpPr>
          <p:cNvPr id="26" name="Shape 24"/>
          <p:cNvSpPr/>
          <p:nvPr/>
        </p:nvSpPr>
        <p:spPr>
          <a:xfrm>
            <a:off x="15337631" y="6796088"/>
            <a:ext cx="28575" cy="685800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27" name="Shape 25"/>
          <p:cNvSpPr/>
          <p:nvPr/>
        </p:nvSpPr>
        <p:spPr>
          <a:xfrm>
            <a:off x="13473113" y="7481887"/>
            <a:ext cx="3757613" cy="1628775"/>
          </a:xfrm>
          <a:prstGeom prst="rect">
            <a:avLst/>
          </a:prstGeom>
          <a:ln w="28575">
            <a:solidFill>
              <a:srgbClr val="8FC0E9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3568124" y="7891463"/>
            <a:ext cx="356758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VENDOR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4358037" y="8215313"/>
            <a:ext cx="198761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StackWare</a:t>
            </a:r>
            <a:endParaRPr lang="en-US" sz="2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0" cy="9372600"/>
          </a:xfrm>
          <a:prstGeom prst="rect">
            <a:avLst/>
          </a:prstGeom>
          <a:ln w="28575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5775" y="1981200"/>
            <a:ext cx="17316450" cy="28575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942975" y="828675"/>
            <a:ext cx="5095012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B254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Plan · Mar to Oct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384786" y="1219200"/>
            <a:ext cx="10364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05 / 08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95775" y="2009775"/>
            <a:ext cx="19050" cy="666750"/>
          </a:xfrm>
          <a:prstGeom prst="rect">
            <a:avLst/>
          </a:prstGeom>
          <a:solidFill>
            <a:srgbClr val="B8C9DB"/>
          </a:solidFill>
          <a:ln/>
        </p:spPr>
      </p:sp>
      <p:sp>
        <p:nvSpPr>
          <p:cNvPr id="7" name="Text 5"/>
          <p:cNvSpPr/>
          <p:nvPr/>
        </p:nvSpPr>
        <p:spPr>
          <a:xfrm>
            <a:off x="4276725" y="2009775"/>
            <a:ext cx="17454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MAR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984081" y="2009775"/>
            <a:ext cx="19050" cy="666750"/>
          </a:xfrm>
          <a:prstGeom prst="rect">
            <a:avLst/>
          </a:prstGeom>
          <a:solidFill>
            <a:srgbClr val="B8C9DB"/>
          </a:solidFill>
          <a:ln/>
        </p:spPr>
      </p:sp>
      <p:sp>
        <p:nvSpPr>
          <p:cNvPr id="9" name="Text 7"/>
          <p:cNvSpPr/>
          <p:nvPr/>
        </p:nvSpPr>
        <p:spPr>
          <a:xfrm>
            <a:off x="5965031" y="2009775"/>
            <a:ext cx="17454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APR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672388" y="2009775"/>
            <a:ext cx="19050" cy="666750"/>
          </a:xfrm>
          <a:prstGeom prst="rect">
            <a:avLst/>
          </a:prstGeom>
          <a:solidFill>
            <a:srgbClr val="B8C9DB"/>
          </a:solidFill>
          <a:ln/>
        </p:spPr>
      </p:sp>
      <p:sp>
        <p:nvSpPr>
          <p:cNvPr id="11" name="Text 9"/>
          <p:cNvSpPr/>
          <p:nvPr/>
        </p:nvSpPr>
        <p:spPr>
          <a:xfrm>
            <a:off x="7653338" y="2009775"/>
            <a:ext cx="17454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MAY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360694" y="2009775"/>
            <a:ext cx="19050" cy="666750"/>
          </a:xfrm>
          <a:prstGeom prst="rect">
            <a:avLst/>
          </a:prstGeom>
          <a:solidFill>
            <a:srgbClr val="B8C9DB"/>
          </a:solidFill>
          <a:ln/>
        </p:spPr>
      </p:sp>
      <p:sp>
        <p:nvSpPr>
          <p:cNvPr id="13" name="Text 11"/>
          <p:cNvSpPr/>
          <p:nvPr/>
        </p:nvSpPr>
        <p:spPr>
          <a:xfrm>
            <a:off x="9341644" y="2009775"/>
            <a:ext cx="17454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JUN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049000" y="2009775"/>
            <a:ext cx="19050" cy="666750"/>
          </a:xfrm>
          <a:prstGeom prst="rect">
            <a:avLst/>
          </a:prstGeom>
          <a:solidFill>
            <a:srgbClr val="B8C9DB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9950" y="2009775"/>
            <a:ext cx="17454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JUL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2737306" y="2009775"/>
            <a:ext cx="19050" cy="666750"/>
          </a:xfrm>
          <a:prstGeom prst="rect">
            <a:avLst/>
          </a:prstGeom>
          <a:solidFill>
            <a:srgbClr val="B8C9DB"/>
          </a:solidFill>
          <a:ln/>
        </p:spPr>
      </p:sp>
      <p:sp>
        <p:nvSpPr>
          <p:cNvPr id="17" name="Text 15"/>
          <p:cNvSpPr/>
          <p:nvPr/>
        </p:nvSpPr>
        <p:spPr>
          <a:xfrm>
            <a:off x="12718256" y="2009775"/>
            <a:ext cx="17454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AUG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4425613" y="2009775"/>
            <a:ext cx="19050" cy="666750"/>
          </a:xfrm>
          <a:prstGeom prst="rect">
            <a:avLst/>
          </a:prstGeom>
          <a:solidFill>
            <a:srgbClr val="B8C9DB"/>
          </a:solidFill>
          <a:ln/>
        </p:spPr>
      </p:sp>
      <p:sp>
        <p:nvSpPr>
          <p:cNvPr id="19" name="Text 17"/>
          <p:cNvSpPr/>
          <p:nvPr/>
        </p:nvSpPr>
        <p:spPr>
          <a:xfrm>
            <a:off x="14406563" y="2009775"/>
            <a:ext cx="17454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SEP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6113919" y="2009775"/>
            <a:ext cx="19050" cy="666750"/>
          </a:xfrm>
          <a:prstGeom prst="rect">
            <a:avLst/>
          </a:prstGeom>
          <a:solidFill>
            <a:srgbClr val="B8C9DB"/>
          </a:solidFill>
          <a:ln/>
        </p:spPr>
      </p:sp>
      <p:sp>
        <p:nvSpPr>
          <p:cNvPr id="21" name="Text 19"/>
          <p:cNvSpPr/>
          <p:nvPr/>
        </p:nvSpPr>
        <p:spPr>
          <a:xfrm>
            <a:off x="16094869" y="2009775"/>
            <a:ext cx="17454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OCT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485775" y="2676525"/>
            <a:ext cx="3810000" cy="19050"/>
          </a:xfrm>
          <a:prstGeom prst="rect">
            <a:avLst/>
          </a:prstGeom>
          <a:solidFill>
            <a:srgbClr val="B8C9DB"/>
          </a:solidFill>
          <a:ln/>
        </p:spPr>
      </p:sp>
      <p:sp>
        <p:nvSpPr>
          <p:cNvPr id="23" name="Text 21"/>
          <p:cNvSpPr/>
          <p:nvPr/>
        </p:nvSpPr>
        <p:spPr>
          <a:xfrm>
            <a:off x="942975" y="2695575"/>
            <a:ext cx="3467100" cy="1206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Requirements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352925" y="3060650"/>
            <a:ext cx="3262313" cy="4191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5" name="Shape 23"/>
          <p:cNvSpPr/>
          <p:nvPr/>
        </p:nvSpPr>
        <p:spPr>
          <a:xfrm>
            <a:off x="485775" y="3863876"/>
            <a:ext cx="3810000" cy="19050"/>
          </a:xfrm>
          <a:prstGeom prst="rect">
            <a:avLst/>
          </a:prstGeom>
          <a:solidFill>
            <a:srgbClr val="B8C9DB"/>
          </a:solidFill>
          <a:ln/>
        </p:spPr>
      </p:sp>
      <p:sp>
        <p:nvSpPr>
          <p:cNvPr id="26" name="Text 24"/>
          <p:cNvSpPr/>
          <p:nvPr/>
        </p:nvSpPr>
        <p:spPr>
          <a:xfrm>
            <a:off x="942975" y="3882926"/>
            <a:ext cx="3467100" cy="120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Configuration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6041231" y="4248001"/>
            <a:ext cx="3262313" cy="4191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8" name="Shape 26"/>
          <p:cNvSpPr/>
          <p:nvPr/>
        </p:nvSpPr>
        <p:spPr>
          <a:xfrm>
            <a:off x="485775" y="5051375"/>
            <a:ext cx="3810000" cy="19050"/>
          </a:xfrm>
          <a:prstGeom prst="rect">
            <a:avLst/>
          </a:prstGeom>
          <a:solidFill>
            <a:srgbClr val="B8C9DB"/>
          </a:solidFill>
          <a:ln/>
        </p:spPr>
      </p:sp>
      <p:sp>
        <p:nvSpPr>
          <p:cNvPr id="29" name="Text 27"/>
          <p:cNvSpPr/>
          <p:nvPr/>
        </p:nvSpPr>
        <p:spPr>
          <a:xfrm>
            <a:off x="942975" y="5070425"/>
            <a:ext cx="3467100" cy="1206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Data migration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7729538" y="5435501"/>
            <a:ext cx="4950619" cy="4191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1" name="Shape 29"/>
          <p:cNvSpPr/>
          <p:nvPr/>
        </p:nvSpPr>
        <p:spPr>
          <a:xfrm>
            <a:off x="485775" y="6238726"/>
            <a:ext cx="3810000" cy="19050"/>
          </a:xfrm>
          <a:prstGeom prst="rect">
            <a:avLst/>
          </a:prstGeom>
          <a:solidFill>
            <a:srgbClr val="B8C9DB"/>
          </a:solidFill>
          <a:ln/>
        </p:spPr>
      </p:sp>
      <p:sp>
        <p:nvSpPr>
          <p:cNvPr id="32" name="Text 30"/>
          <p:cNvSpPr/>
          <p:nvPr/>
        </p:nvSpPr>
        <p:spPr>
          <a:xfrm>
            <a:off x="942975" y="6257776"/>
            <a:ext cx="3467100" cy="120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Pilot · Bhiwandi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1106150" y="6594277"/>
            <a:ext cx="1574006" cy="476250"/>
          </a:xfrm>
          <a:prstGeom prst="rect">
            <a:avLst/>
          </a:prstGeom>
          <a:solidFill>
            <a:srgbClr val="F4D35E"/>
          </a:solidFill>
          <a:ln w="28575">
            <a:solidFill>
              <a:srgbClr val="0B25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5775" y="7426226"/>
            <a:ext cx="3810000" cy="19050"/>
          </a:xfrm>
          <a:prstGeom prst="rect">
            <a:avLst/>
          </a:prstGeom>
          <a:solidFill>
            <a:srgbClr val="B8C9DB"/>
          </a:solidFill>
          <a:ln/>
        </p:spPr>
      </p:sp>
      <p:sp>
        <p:nvSpPr>
          <p:cNvPr id="35" name="Text 33"/>
          <p:cNvSpPr/>
          <p:nvPr/>
        </p:nvSpPr>
        <p:spPr>
          <a:xfrm>
            <a:off x="942975" y="7445276"/>
            <a:ext cx="3467100" cy="120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Rollout · 3 sites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2794456" y="7810351"/>
            <a:ext cx="3262313" cy="4191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7" name="Shape 35"/>
          <p:cNvSpPr/>
          <p:nvPr/>
        </p:nvSpPr>
        <p:spPr>
          <a:xfrm>
            <a:off x="485775" y="8613725"/>
            <a:ext cx="3810000" cy="19050"/>
          </a:xfrm>
          <a:prstGeom prst="rect">
            <a:avLst/>
          </a:prstGeom>
          <a:solidFill>
            <a:srgbClr val="B8C9DB"/>
          </a:solidFill>
          <a:ln/>
        </p:spPr>
      </p:sp>
      <p:sp>
        <p:nvSpPr>
          <p:cNvPr id="38" name="Text 36"/>
          <p:cNvSpPr/>
          <p:nvPr/>
        </p:nvSpPr>
        <p:spPr>
          <a:xfrm>
            <a:off x="942975" y="8632775"/>
            <a:ext cx="3467100" cy="1206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Switch off old system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 rot="2700000">
            <a:off x="16748522" y="8997851"/>
            <a:ext cx="419100" cy="419100"/>
          </a:xfrm>
          <a:prstGeom prst="rect">
            <a:avLst/>
          </a:prstGeom>
          <a:solidFill>
            <a:srgbClr val="0B2545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0" cy="9372600"/>
          </a:xfrm>
          <a:prstGeom prst="rect">
            <a:avLst/>
          </a:prstGeom>
          <a:ln w="28575">
            <a:solidFill>
              <a:srgbClr val="8FC0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7275" y="904875"/>
            <a:ext cx="3512418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Risk matrix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6270486" y="1295400"/>
            <a:ext cx="10364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06 / 08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438275" y="8972550"/>
            <a:ext cx="7048500" cy="28575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6" name="Shape 4"/>
          <p:cNvSpPr/>
          <p:nvPr/>
        </p:nvSpPr>
        <p:spPr>
          <a:xfrm>
            <a:off x="1438275" y="2057400"/>
            <a:ext cx="28575" cy="6943725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7" name="Shape 5"/>
          <p:cNvSpPr/>
          <p:nvPr/>
        </p:nvSpPr>
        <p:spPr>
          <a:xfrm>
            <a:off x="1466850" y="5495925"/>
            <a:ext cx="3509963" cy="19050"/>
          </a:xfrm>
          <a:prstGeom prst="rect">
            <a:avLst/>
          </a:prstGeom>
          <a:solidFill>
            <a:srgbClr val="8FC0E9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57763" y="2057400"/>
            <a:ext cx="19050" cy="3457575"/>
          </a:xfrm>
          <a:prstGeom prst="rect">
            <a:avLst/>
          </a:prstGeom>
          <a:solidFill>
            <a:srgbClr val="8FC0E9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76813" y="2057400"/>
            <a:ext cx="3509963" cy="3457575"/>
          </a:xfrm>
          <a:prstGeom prst="rect">
            <a:avLst/>
          </a:prstGeom>
          <a:solidFill>
            <a:srgbClr val="F4D35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76813" y="5495925"/>
            <a:ext cx="3509963" cy="19050"/>
          </a:xfrm>
          <a:prstGeom prst="rect">
            <a:avLst/>
          </a:prstGeom>
          <a:solidFill>
            <a:srgbClr val="8FC0E9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57763" y="5514975"/>
            <a:ext cx="19050" cy="3457575"/>
          </a:xfrm>
          <a:prstGeom prst="rect">
            <a:avLst/>
          </a:prstGeom>
          <a:solidFill>
            <a:srgbClr val="8FC0E9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 rot="-5400000">
            <a:off x="104775" y="3777555"/>
            <a:ext cx="1809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LIKELIHOOD 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97936" y="9096375"/>
            <a:ext cx="12650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IMPACT 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63569" y="3025378"/>
            <a:ext cx="609600" cy="609600"/>
          </a:xfrm>
          <a:prstGeom prst="ellipse">
            <a:avLst/>
          </a:prstGeom>
          <a:solidFill>
            <a:srgbClr val="F4D35E"/>
          </a:solidFill>
          <a:ln/>
        </p:spPr>
      </p:sp>
      <p:sp>
        <p:nvSpPr>
          <p:cNvPr id="15" name="Text 13"/>
          <p:cNvSpPr/>
          <p:nvPr/>
        </p:nvSpPr>
        <p:spPr>
          <a:xfrm>
            <a:off x="7325469" y="3025378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A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099870" y="6344692"/>
            <a:ext cx="609600" cy="609600"/>
          </a:xfrm>
          <a:prstGeom prst="ellipse">
            <a:avLst/>
          </a:prstGeom>
          <a:solidFill>
            <a:srgbClr val="8FC0E9"/>
          </a:solidFill>
          <a:ln/>
        </p:spPr>
      </p:sp>
      <p:sp>
        <p:nvSpPr>
          <p:cNvPr id="17" name="Text 15"/>
          <p:cNvSpPr/>
          <p:nvPr/>
        </p:nvSpPr>
        <p:spPr>
          <a:xfrm>
            <a:off x="6061770" y="6344692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B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3572768" y="4546848"/>
            <a:ext cx="609600" cy="609600"/>
          </a:xfrm>
          <a:prstGeom prst="ellipse">
            <a:avLst/>
          </a:prstGeom>
          <a:solidFill>
            <a:srgbClr val="8FC0E9"/>
          </a:solidFill>
          <a:ln/>
        </p:spPr>
      </p:sp>
      <p:sp>
        <p:nvSpPr>
          <p:cNvPr id="19" name="Text 17"/>
          <p:cNvSpPr/>
          <p:nvPr/>
        </p:nvSpPr>
        <p:spPr>
          <a:xfrm>
            <a:off x="3534668" y="4546848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C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274790" y="7312819"/>
            <a:ext cx="609600" cy="609600"/>
          </a:xfrm>
          <a:prstGeom prst="ellipse">
            <a:avLst/>
          </a:prstGeom>
          <a:ln w="28575">
            <a:solidFill>
              <a:srgbClr val="8FC0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65265" y="7341394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F1F8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D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248775" y="3709988"/>
            <a:ext cx="60960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D35E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A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972675" y="3709988"/>
            <a:ext cx="798385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Festive peak overlaps rollout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972675" y="4176712"/>
            <a:ext cx="79838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9D3EA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Freeze go-lives 10 Oct – 15 Nov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248775" y="4786313"/>
            <a:ext cx="60960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B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972675" y="4786313"/>
            <a:ext cx="798385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Data migration errors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972675" y="5253038"/>
            <a:ext cx="79838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9D3EA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Two dry runs per site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248775" y="5862638"/>
            <a:ext cx="60960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C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9972675" y="5862638"/>
            <a:ext cx="798385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Staff new to scanners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972675" y="6329363"/>
            <a:ext cx="79838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9D3EA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Floor champions trained early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9248775" y="6938963"/>
            <a:ext cx="60960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D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9972675" y="6938963"/>
            <a:ext cx="798385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Vendor team changes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972675" y="7405688"/>
            <a:ext cx="79838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9D3EA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Named leads in contract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0" cy="9372600"/>
          </a:xfrm>
          <a:prstGeom prst="rect">
            <a:avLst/>
          </a:prstGeom>
          <a:ln w="28575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5775" y="1981200"/>
            <a:ext cx="17316450" cy="28575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942975" y="828675"/>
            <a:ext cx="6955095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B254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A typical project week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384786" y="1219200"/>
            <a:ext cx="10364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07 / 08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929955" y="2009775"/>
            <a:ext cx="19050" cy="6905625"/>
          </a:xfrm>
          <a:prstGeom prst="rect">
            <a:avLst/>
          </a:prstGeom>
          <a:solidFill>
            <a:srgbClr val="B8C9DB"/>
          </a:solidFill>
          <a:ln/>
        </p:spPr>
      </p:sp>
      <p:sp>
        <p:nvSpPr>
          <p:cNvPr id="7" name="Text 5"/>
          <p:cNvSpPr/>
          <p:nvPr/>
        </p:nvSpPr>
        <p:spPr>
          <a:xfrm>
            <a:off x="771525" y="2295525"/>
            <a:ext cx="31599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MON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71525" y="2809875"/>
            <a:ext cx="2872680" cy="5819775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1076325" y="3114675"/>
            <a:ext cx="248938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4D35E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10:00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76325" y="7403009"/>
            <a:ext cx="2339280" cy="9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48"/>
              </a:lnSpc>
              <a:buNone/>
            </a:pPr>
            <a:r>
              <a:rPr lang="en-US" sz="3300" b="1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Stand-up, 30 min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7393186" y="2009775"/>
            <a:ext cx="19050" cy="6905625"/>
          </a:xfrm>
          <a:prstGeom prst="rect">
            <a:avLst/>
          </a:prstGeom>
          <a:solidFill>
            <a:srgbClr val="B8C9DB"/>
          </a:solidFill>
          <a:ln/>
        </p:spPr>
      </p:sp>
      <p:sp>
        <p:nvSpPr>
          <p:cNvPr id="12" name="Text 10"/>
          <p:cNvSpPr/>
          <p:nvPr/>
        </p:nvSpPr>
        <p:spPr>
          <a:xfrm>
            <a:off x="4234755" y="2295525"/>
            <a:ext cx="31599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TUE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234755" y="2809875"/>
            <a:ext cx="2872680" cy="5819775"/>
          </a:xfrm>
          <a:prstGeom prst="rect">
            <a:avLst/>
          </a:prstGeom>
          <a:ln w="28575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8130" y="3143250"/>
            <a:ext cx="242652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ALL DAY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568130" y="7835354"/>
            <a:ext cx="2426524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48"/>
              </a:lnSpc>
              <a:buNone/>
            </a:pPr>
            <a:r>
              <a:rPr lang="en-US" sz="3300" b="1" dirty="0">
                <a:solidFill>
                  <a:srgbClr val="0B254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Site visits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10856565" y="2009775"/>
            <a:ext cx="19050" cy="6905625"/>
          </a:xfrm>
          <a:prstGeom prst="rect">
            <a:avLst/>
          </a:prstGeom>
          <a:solidFill>
            <a:srgbClr val="B8C9DB"/>
          </a:solidFill>
          <a:ln/>
        </p:spPr>
      </p:sp>
      <p:sp>
        <p:nvSpPr>
          <p:cNvPr id="17" name="Text 15"/>
          <p:cNvSpPr/>
          <p:nvPr/>
        </p:nvSpPr>
        <p:spPr>
          <a:xfrm>
            <a:off x="7697986" y="2295525"/>
            <a:ext cx="316011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WED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7697986" y="2809875"/>
            <a:ext cx="2872829" cy="5819775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9" name="Text 17"/>
          <p:cNvSpPr/>
          <p:nvPr/>
        </p:nvSpPr>
        <p:spPr>
          <a:xfrm>
            <a:off x="8002786" y="3114675"/>
            <a:ext cx="248955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15:00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002786" y="7403009"/>
            <a:ext cx="2339429" cy="9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48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Vendor sync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14319796" y="2009775"/>
            <a:ext cx="19050" cy="6905625"/>
          </a:xfrm>
          <a:prstGeom prst="rect">
            <a:avLst/>
          </a:prstGeom>
          <a:solidFill>
            <a:srgbClr val="B8C9DB"/>
          </a:solidFill>
          <a:ln/>
        </p:spPr>
      </p:sp>
      <p:sp>
        <p:nvSpPr>
          <p:cNvPr id="22" name="Text 20"/>
          <p:cNvSpPr/>
          <p:nvPr/>
        </p:nvSpPr>
        <p:spPr>
          <a:xfrm>
            <a:off x="11161365" y="2295525"/>
            <a:ext cx="31599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THU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1161365" y="2809875"/>
            <a:ext cx="2872680" cy="5819775"/>
          </a:xfrm>
          <a:prstGeom prst="rect">
            <a:avLst/>
          </a:prstGeom>
          <a:ln w="28575">
            <a:solidFill>
              <a:srgbClr val="0B2545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11494740" y="3143250"/>
            <a:ext cx="242652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FOCUS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494740" y="7374434"/>
            <a:ext cx="2282130" cy="9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48"/>
              </a:lnSpc>
              <a:buNone/>
            </a:pPr>
            <a:r>
              <a:rPr lang="en-US" sz="3300" b="1" dirty="0">
                <a:solidFill>
                  <a:srgbClr val="0B254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No meetings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14624596" y="2295525"/>
            <a:ext cx="318106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FRI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4624596" y="2809875"/>
            <a:ext cx="2891879" cy="5819775"/>
          </a:xfrm>
          <a:prstGeom prst="rect">
            <a:avLst/>
          </a:prstGeom>
          <a:solidFill>
            <a:srgbClr val="F4D35E"/>
          </a:solidFill>
          <a:ln/>
        </p:spPr>
      </p:sp>
      <p:sp>
        <p:nvSpPr>
          <p:cNvPr id="28" name="Text 26"/>
          <p:cNvSpPr/>
          <p:nvPr/>
        </p:nvSpPr>
        <p:spPr>
          <a:xfrm>
            <a:off x="14929396" y="3114675"/>
            <a:ext cx="251050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16:00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4929396" y="7403009"/>
            <a:ext cx="2358479" cy="9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48"/>
              </a:lnSpc>
              <a:buNone/>
            </a:pPr>
            <a:r>
              <a:rPr lang="en-US" sz="3300" b="1" dirty="0">
                <a:solidFill>
                  <a:srgbClr val="0B254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Status note to sponsor</a:t>
            </a:r>
            <a:endParaRPr lang="en-US" sz="3300" dirty="0"/>
          </a:p>
        </p:txBody>
      </p:sp>
      <p:sp>
        <p:nvSpPr>
          <p:cNvPr id="30" name="Shape 28"/>
          <p:cNvSpPr/>
          <p:nvPr/>
        </p:nvSpPr>
        <p:spPr>
          <a:xfrm>
            <a:off x="485775" y="8915400"/>
            <a:ext cx="17316450" cy="28575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942975" y="9210675"/>
            <a:ext cx="424977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TOOLS · Jira, shared Drive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5377904" y="9210675"/>
            <a:ext cx="866292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2545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DECISIONS · Lead decides, sponsor breaks ties in 48 h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0" cy="9372600"/>
          </a:xfrm>
          <a:prstGeom prst="rect">
            <a:avLst/>
          </a:prstGeom>
          <a:ln w="28575">
            <a:solidFill>
              <a:srgbClr val="8FC0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5775" y="1981200"/>
            <a:ext cx="17316450" cy="28575"/>
          </a:xfrm>
          <a:prstGeom prst="rect">
            <a:avLst/>
          </a:prstGeom>
          <a:solidFill>
            <a:srgbClr val="8FC0E9"/>
          </a:solidFill>
          <a:ln/>
        </p:spPr>
      </p:sp>
      <p:sp>
        <p:nvSpPr>
          <p:cNvPr id="4" name="Text 2"/>
          <p:cNvSpPr/>
          <p:nvPr/>
        </p:nvSpPr>
        <p:spPr>
          <a:xfrm>
            <a:off x="942975" y="828675"/>
            <a:ext cx="3195965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Action log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384786" y="1219200"/>
            <a:ext cx="10364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08 / 08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42975" y="2009775"/>
            <a:ext cx="1428750" cy="159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95525" y="2009775"/>
            <a:ext cx="10674096" cy="159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ACTION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58725" y="2009775"/>
            <a:ext cx="3139440" cy="159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OWNER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706725" y="2009775"/>
            <a:ext cx="2171700" cy="159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C0E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DUE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5775" y="3568005"/>
            <a:ext cx="1809750" cy="19050"/>
          </a:xfrm>
          <a:prstGeom prst="rect">
            <a:avLst/>
          </a:prstGeom>
          <a:solidFill>
            <a:srgbClr val="8FC0E9">
              <a:alpha val="3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42975" y="3587055"/>
            <a:ext cx="1428750" cy="157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D35E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A-01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295525" y="3568005"/>
            <a:ext cx="10363200" cy="19050"/>
          </a:xfrm>
          <a:prstGeom prst="rect">
            <a:avLst/>
          </a:prstGeom>
          <a:solidFill>
            <a:srgbClr val="8FC0E9">
              <a:alpha val="3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295525" y="3587055"/>
            <a:ext cx="10674096" cy="157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Send requirements template to site heads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2658725" y="3568005"/>
            <a:ext cx="3048000" cy="19050"/>
          </a:xfrm>
          <a:prstGeom prst="rect">
            <a:avLst/>
          </a:prstGeom>
          <a:solidFill>
            <a:srgbClr val="8FC0E9">
              <a:alpha val="3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658725" y="3587055"/>
            <a:ext cx="3139440" cy="157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Arjun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5706725" y="3568005"/>
            <a:ext cx="2095500" cy="19050"/>
          </a:xfrm>
          <a:prstGeom prst="rect">
            <a:avLst/>
          </a:prstGeom>
          <a:solidFill>
            <a:srgbClr val="8FC0E9">
              <a:alpha val="3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5706725" y="3587055"/>
            <a:ext cx="2171700" cy="157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8F1F8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05.03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85775" y="5126236"/>
            <a:ext cx="1809750" cy="19050"/>
          </a:xfrm>
          <a:prstGeom prst="rect">
            <a:avLst/>
          </a:prstGeom>
          <a:solidFill>
            <a:srgbClr val="8FC0E9">
              <a:alpha val="3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42975" y="5145286"/>
            <a:ext cx="1428750" cy="1577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D35E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A-02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2295525" y="5126236"/>
            <a:ext cx="10363200" cy="19050"/>
          </a:xfrm>
          <a:prstGeom prst="rect">
            <a:avLst/>
          </a:prstGeom>
          <a:solidFill>
            <a:srgbClr val="8FC0E9">
              <a:alpha val="3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295525" y="5145286"/>
            <a:ext cx="10674096" cy="1577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Sign vendor statement of work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2658725" y="5126236"/>
            <a:ext cx="3048000" cy="19050"/>
          </a:xfrm>
          <a:prstGeom prst="rect">
            <a:avLst/>
          </a:prstGeom>
          <a:solidFill>
            <a:srgbClr val="8FC0E9">
              <a:alpha val="3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658725" y="5145286"/>
            <a:ext cx="3139440" cy="1577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Lakshmi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5706725" y="5126236"/>
            <a:ext cx="2095500" cy="19050"/>
          </a:xfrm>
          <a:prstGeom prst="rect">
            <a:avLst/>
          </a:prstGeom>
          <a:solidFill>
            <a:srgbClr val="8FC0E9">
              <a:alpha val="3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5706725" y="5145286"/>
            <a:ext cx="2171700" cy="1577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8F1F8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07.03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485775" y="6684615"/>
            <a:ext cx="1809750" cy="19050"/>
          </a:xfrm>
          <a:prstGeom prst="rect">
            <a:avLst/>
          </a:prstGeom>
          <a:solidFill>
            <a:srgbClr val="8FC0E9">
              <a:alpha val="3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42975" y="6703665"/>
            <a:ext cx="1428750" cy="157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D35E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A-03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2295525" y="6684615"/>
            <a:ext cx="10363200" cy="19050"/>
          </a:xfrm>
          <a:prstGeom prst="rect">
            <a:avLst/>
          </a:prstGeom>
          <a:solidFill>
            <a:srgbClr val="8FC0E9">
              <a:alpha val="3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295525" y="6703665"/>
            <a:ext cx="10674096" cy="157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Export current inventory data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12658725" y="6684615"/>
            <a:ext cx="3048000" cy="19050"/>
          </a:xfrm>
          <a:prstGeom prst="rect">
            <a:avLst/>
          </a:prstGeom>
          <a:solidFill>
            <a:srgbClr val="8FC0E9">
              <a:alpha val="3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2658725" y="6703665"/>
            <a:ext cx="3139440" cy="157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Farhan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15706725" y="6684615"/>
            <a:ext cx="2095500" cy="19050"/>
          </a:xfrm>
          <a:prstGeom prst="rect">
            <a:avLst/>
          </a:prstGeom>
          <a:solidFill>
            <a:srgbClr val="8FC0E9">
              <a:alpha val="3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5706725" y="6703665"/>
            <a:ext cx="2171700" cy="157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8F1F8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10.03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485775" y="8242846"/>
            <a:ext cx="1809750" cy="19050"/>
          </a:xfrm>
          <a:prstGeom prst="rect">
            <a:avLst/>
          </a:prstGeom>
          <a:solidFill>
            <a:srgbClr val="8FC0E9">
              <a:alpha val="3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42975" y="8261896"/>
            <a:ext cx="1428750" cy="1577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D35E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A-04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2295525" y="8242846"/>
            <a:ext cx="10363200" cy="19050"/>
          </a:xfrm>
          <a:prstGeom prst="rect">
            <a:avLst/>
          </a:prstGeom>
          <a:solidFill>
            <a:srgbClr val="8FC0E9">
              <a:alpha val="3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295525" y="8261896"/>
            <a:ext cx="10674096" cy="1577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Pick floor champions at each site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12658725" y="8242846"/>
            <a:ext cx="3048000" cy="19050"/>
          </a:xfrm>
          <a:prstGeom prst="rect">
            <a:avLst/>
          </a:prstGeom>
          <a:solidFill>
            <a:srgbClr val="8FC0E9">
              <a:alpha val="3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2658725" y="8261896"/>
            <a:ext cx="3139440" cy="1577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8F1F8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Site heads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15706725" y="8242846"/>
            <a:ext cx="2095500" cy="19050"/>
          </a:xfrm>
          <a:prstGeom prst="rect">
            <a:avLst/>
          </a:prstGeom>
          <a:solidFill>
            <a:srgbClr val="8FC0E9">
              <a:alpha val="3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5706725" y="8261896"/>
            <a:ext cx="2171700" cy="1577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8F1F8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14.03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2026-10-23T11:03:32Z</dcterms:created>
  <dcterms:modified xsi:type="dcterms:W3CDTF">2026-10-23T11:03:32Z</dcterms:modified>
</cp:coreProperties>
</file>