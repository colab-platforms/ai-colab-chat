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company name, quarter, report date, presenter name and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four headline KPIs with value and change versus last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monthly revenue for the last six months, target value, one-line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three wins and up to three misses, one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the single most important number this quarter and a two-line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revenue for up to five regions or business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four goals for next quarter, each with an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closing line and contact for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71550"/>
            <a:ext cx="16764000" cy="76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23297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KAVERI FOODS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77634" y="533400"/>
            <a:ext cx="2917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BUSINESS REVIEW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727263" y="533400"/>
            <a:ext cx="19786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 · 01 · 2027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2000" y="5105400"/>
            <a:ext cx="10687050" cy="426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493"/>
              </a:lnSpc>
              <a:buNone/>
            </a:pPr>
            <a:r>
              <a:rPr lang="en-US" sz="40000" b="1" spc="-1800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Q3</a:t>
            </a:r>
            <a:endParaRPr lang="en-US" sz="40000" dirty="0"/>
          </a:p>
        </p:txBody>
      </p:sp>
      <p:sp>
        <p:nvSpPr>
          <p:cNvPr id="7" name="Shape 5"/>
          <p:cNvSpPr/>
          <p:nvPr/>
        </p:nvSpPr>
        <p:spPr>
          <a:xfrm>
            <a:off x="11049000" y="4061817"/>
            <a:ext cx="1143000" cy="1143000"/>
          </a:xfrm>
          <a:prstGeom prst="ellipse">
            <a:avLst/>
          </a:prstGeom>
          <a:solidFill>
            <a:srgbClr val="0CA678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0" y="5547717"/>
            <a:ext cx="6671310" cy="2643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QUARTERLY BUSINESS REVIEW FY27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1049000" y="8496300"/>
            <a:ext cx="667131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25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Priya Menon Chief Financial Officer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762000" y="9677400"/>
            <a:ext cx="16764000" cy="76200"/>
          </a:xfrm>
          <a:prstGeom prst="rect">
            <a:avLst/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71550"/>
            <a:ext cx="16764000" cy="76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22842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NUMBERS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186672" y="533400"/>
            <a:ext cx="4155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62000" y="1047750"/>
            <a:ext cx="16764000" cy="87058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047750"/>
            <a:ext cx="8362950" cy="433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28750"/>
            <a:ext cx="8780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REVENUE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62000" y="3400425"/>
            <a:ext cx="6332503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84"/>
              </a:lnSpc>
              <a:buNone/>
            </a:pPr>
            <a:r>
              <a:rPr lang="en-US" sz="1575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₹48.2Cr</a:t>
            </a:r>
            <a:endParaRPr lang="en-US" sz="15750" dirty="0"/>
          </a:p>
        </p:txBody>
      </p:sp>
      <p:sp>
        <p:nvSpPr>
          <p:cNvPr id="9" name="Shape 7"/>
          <p:cNvSpPr/>
          <p:nvPr/>
        </p:nvSpPr>
        <p:spPr>
          <a:xfrm>
            <a:off x="6785521" y="4543425"/>
            <a:ext cx="1128713" cy="457200"/>
          </a:xfrm>
          <a:prstGeom prst="rect">
            <a:avLst/>
          </a:prstGeom>
          <a:solidFill>
            <a:srgbClr val="0CA678"/>
          </a:solidFill>
          <a:ln/>
        </p:spPr>
      </p:sp>
      <p:sp>
        <p:nvSpPr>
          <p:cNvPr id="10" name="Text 8"/>
          <p:cNvSpPr/>
          <p:nvPr/>
        </p:nvSpPr>
        <p:spPr>
          <a:xfrm>
            <a:off x="6937921" y="4619625"/>
            <a:ext cx="9001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+18%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63050" y="1047750"/>
            <a:ext cx="8362950" cy="433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544050" y="1428750"/>
            <a:ext cx="83610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GROSS MARGIN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44050" y="3400425"/>
            <a:ext cx="48736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84"/>
              </a:lnSpc>
              <a:buNone/>
            </a:pPr>
            <a:r>
              <a:rPr lang="en-US" sz="1575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41.6%</a:t>
            </a:r>
            <a:endParaRPr lang="en-US" sz="15750" dirty="0"/>
          </a:p>
        </p:txBody>
      </p:sp>
      <p:sp>
        <p:nvSpPr>
          <p:cNvPr id="14" name="Shape 12"/>
          <p:cNvSpPr/>
          <p:nvPr/>
        </p:nvSpPr>
        <p:spPr>
          <a:xfrm>
            <a:off x="14241363" y="4543425"/>
            <a:ext cx="938361" cy="457200"/>
          </a:xfrm>
          <a:prstGeom prst="rect">
            <a:avLst/>
          </a:prstGeom>
          <a:solidFill>
            <a:srgbClr val="0CA678"/>
          </a:solidFill>
          <a:ln/>
        </p:spPr>
      </p:sp>
      <p:sp>
        <p:nvSpPr>
          <p:cNvPr id="15" name="Text 13"/>
          <p:cNvSpPr/>
          <p:nvPr/>
        </p:nvSpPr>
        <p:spPr>
          <a:xfrm>
            <a:off x="14393763" y="4619625"/>
            <a:ext cx="7097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+2.1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762000" y="5419725"/>
            <a:ext cx="8362950" cy="433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800725"/>
            <a:ext cx="8780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RETAIL OUTLETS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62000" y="7696200"/>
            <a:ext cx="431263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84"/>
              </a:lnSpc>
              <a:buNone/>
            </a:pPr>
            <a:r>
              <a:rPr lang="en-US" sz="1575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2,840</a:t>
            </a:r>
            <a:endParaRPr lang="en-US" sz="15750" dirty="0"/>
          </a:p>
        </p:txBody>
      </p:sp>
      <p:sp>
        <p:nvSpPr>
          <p:cNvPr id="19" name="Shape 17"/>
          <p:cNvSpPr/>
          <p:nvPr/>
        </p:nvSpPr>
        <p:spPr>
          <a:xfrm>
            <a:off x="4949279" y="8839200"/>
            <a:ext cx="1026170" cy="457200"/>
          </a:xfrm>
          <a:prstGeom prst="rect">
            <a:avLst/>
          </a:prstGeom>
          <a:solidFill>
            <a:srgbClr val="0CA678"/>
          </a:solidFill>
          <a:ln/>
        </p:spPr>
      </p:sp>
      <p:sp>
        <p:nvSpPr>
          <p:cNvPr id="20" name="Text 18"/>
          <p:cNvSpPr/>
          <p:nvPr/>
        </p:nvSpPr>
        <p:spPr>
          <a:xfrm>
            <a:off x="5101679" y="8915400"/>
            <a:ext cx="7975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+310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63050" y="5419725"/>
            <a:ext cx="8362950" cy="433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544050" y="5800725"/>
            <a:ext cx="83610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OPERATING COST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544050" y="7696200"/>
            <a:ext cx="528066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84"/>
              </a:lnSpc>
              <a:buNone/>
            </a:pPr>
            <a:r>
              <a:rPr lang="en-US" sz="1575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₹9.1Cr</a:t>
            </a:r>
            <a:endParaRPr lang="en-US" sz="15750" dirty="0"/>
          </a:p>
        </p:txBody>
      </p:sp>
      <p:sp>
        <p:nvSpPr>
          <p:cNvPr id="24" name="Shape 22"/>
          <p:cNvSpPr/>
          <p:nvPr/>
        </p:nvSpPr>
        <p:spPr>
          <a:xfrm>
            <a:off x="14611350" y="8782050"/>
            <a:ext cx="913507" cy="514350"/>
          </a:xfrm>
          <a:prstGeom prst="rect">
            <a:avLst/>
          </a:prstGeom>
          <a:ln w="28575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92325" y="8886825"/>
            <a:ext cx="6277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Flat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71550"/>
            <a:ext cx="16764000" cy="7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26645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REVENUE TREND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186672" y="533400"/>
            <a:ext cx="4155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62000" y="1428750"/>
            <a:ext cx="184404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77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DECEMBER BEAT TARGET </a:t>
            </a:r>
            <a:pPr algn="l" indent="0" marL="0">
              <a:lnSpc>
                <a:spcPct val="83077"/>
              </a:lnSpc>
              <a:buNone/>
            </a:pPr>
            <a:r>
              <a:rPr lang="en-US" sz="9000" b="1" dirty="0">
                <a:solidFill>
                  <a:srgbClr val="0CA67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BY 12%</a:t>
            </a:r>
            <a:endParaRPr lang="en-US" sz="9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838450"/>
            <a:ext cx="16764000" cy="6438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4286548"/>
            <a:ext cx="3352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TARGET ₹16 CR / MONTH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62000" y="9486900"/>
            <a:ext cx="5572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JUL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742730" y="9486900"/>
            <a:ext cx="635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AUG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801892" y="9486900"/>
            <a:ext cx="5822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SEP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807625" y="9486900"/>
            <a:ext cx="6079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OCT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2839105" y="9486900"/>
            <a:ext cx="6273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NOV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5889932" y="9486900"/>
            <a:ext cx="1799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A67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DEC ₹17.9 CR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71550"/>
            <a:ext cx="16764000" cy="76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28307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WINS AND MISSES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186374" y="533400"/>
            <a:ext cx="4158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62000" y="1047750"/>
            <a:ext cx="16764000" cy="87058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047750"/>
            <a:ext cx="8362950" cy="870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66850"/>
            <a:ext cx="1056977" cy="542925"/>
          </a:xfrm>
          <a:prstGeom prst="rect">
            <a:avLst/>
          </a:prstGeom>
          <a:solidFill>
            <a:srgbClr val="0CA678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562100"/>
            <a:ext cx="75217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762000" y="4502051"/>
            <a:ext cx="7905750" cy="190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124075"/>
            <a:ext cx="8142923" cy="2416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984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Launched in 3 new states, adding ₹4.8 Cr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762000" y="6899225"/>
            <a:ext cx="7905750" cy="190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521101"/>
            <a:ext cx="8142923" cy="241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984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Ready-to-cook range sold out in 5 weeks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62000" y="6918275"/>
            <a:ext cx="8142923" cy="241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984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Packaging costs down 9%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9163050" y="1047750"/>
            <a:ext cx="8362950" cy="870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620250" y="1466850"/>
            <a:ext cx="1468934" cy="5429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9810750" y="1562100"/>
            <a:ext cx="11641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MISSED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620250" y="4502051"/>
            <a:ext cx="7905750" cy="190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9620250" y="2124075"/>
            <a:ext cx="8142923" cy="2416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984"/>
              </a:lnSpc>
              <a:buNone/>
            </a:pPr>
            <a:r>
              <a:rPr lang="en-US" sz="4200" b="1" dirty="0">
                <a:solidFill>
                  <a:srgbClr val="5555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E-commerce grew 6% against a 15% plan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9620250" y="6899225"/>
            <a:ext cx="7905750" cy="190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9620250" y="4521101"/>
            <a:ext cx="8142923" cy="241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984"/>
              </a:lnSpc>
              <a:buNone/>
            </a:pPr>
            <a:r>
              <a:rPr lang="en-US" sz="4200" b="1" dirty="0">
                <a:solidFill>
                  <a:srgbClr val="5555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Mysuru plant ran at 68% capacity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9620250" y="6918275"/>
            <a:ext cx="8142923" cy="241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984"/>
              </a:lnSpc>
              <a:buNone/>
            </a:pPr>
            <a:r>
              <a:rPr lang="en-US" sz="4200" b="1" dirty="0">
                <a:solidFill>
                  <a:srgbClr val="5555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 senior sales hires still open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A6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71550"/>
            <a:ext cx="16764000" cy="76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4250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SPOTLIGHT · WEST REGION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186672" y="533400"/>
            <a:ext cx="4155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62000" y="3038475"/>
            <a:ext cx="13154501" cy="476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549"/>
              </a:lnSpc>
              <a:buNone/>
            </a:pPr>
            <a:r>
              <a:rPr lang="en-US" sz="40000" b="1" spc="-1395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+34%</a:t>
            </a:r>
            <a:endParaRPr lang="en-US" sz="40000" dirty="0"/>
          </a:p>
        </p:txBody>
      </p:sp>
      <p:sp>
        <p:nvSpPr>
          <p:cNvPr id="6" name="Text 4"/>
          <p:cNvSpPr/>
          <p:nvPr/>
        </p:nvSpPr>
        <p:spPr>
          <a:xfrm>
            <a:off x="13482638" y="4303514"/>
            <a:ext cx="4164663" cy="2232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69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West grew faster than any region, now ₹13.9 Cr a quarter.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71550"/>
            <a:ext cx="16764000" cy="76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33081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REVENUE BY REGION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186672" y="533400"/>
            <a:ext cx="4155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62000" y="2245519"/>
            <a:ext cx="27241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SOUTH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543300" y="2012156"/>
            <a:ext cx="11582400" cy="10477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5220950" y="2245519"/>
            <a:ext cx="23050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₹21.4Cr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62000" y="4307681"/>
            <a:ext cx="27241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WEST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3543300" y="4074319"/>
            <a:ext cx="7528471" cy="1047750"/>
          </a:xfrm>
          <a:prstGeom prst="rect">
            <a:avLst/>
          </a:prstGeom>
          <a:solidFill>
            <a:srgbClr val="0CA678"/>
          </a:solidFill>
          <a:ln/>
        </p:spPr>
      </p:sp>
      <p:sp>
        <p:nvSpPr>
          <p:cNvPr id="10" name="Text 8"/>
          <p:cNvSpPr/>
          <p:nvPr/>
        </p:nvSpPr>
        <p:spPr>
          <a:xfrm>
            <a:off x="15220950" y="4307681"/>
            <a:ext cx="23050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₹13.9Cr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62000" y="6369844"/>
            <a:ext cx="27241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NORTH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3543300" y="6136481"/>
            <a:ext cx="4632871" cy="10477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15220950" y="6369844"/>
            <a:ext cx="23050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₹8.6Cr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62000" y="8432006"/>
            <a:ext cx="27241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EAST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3543300" y="8198644"/>
            <a:ext cx="2316361" cy="10477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15220950" y="8432006"/>
            <a:ext cx="23050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₹4.3Cr</a:t>
            </a:r>
            <a:endParaRPr lang="en-US" sz="4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71550"/>
            <a:ext cx="16764000" cy="76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23076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Q4 PRIORITIES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186672" y="533400"/>
            <a:ext cx="4155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62000" y="1047750"/>
            <a:ext cx="16764000" cy="87058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047750"/>
            <a:ext cx="4162425" cy="870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28750"/>
            <a:ext cx="4201478" cy="339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40"/>
              </a:lnSpc>
              <a:buNone/>
            </a:pPr>
            <a:r>
              <a:rPr lang="en-US" sz="33000" b="1" dirty="0">
                <a:solidFill>
                  <a:srgbClr val="0CA67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33000" dirty="0"/>
          </a:p>
        </p:txBody>
      </p:sp>
      <p:sp>
        <p:nvSpPr>
          <p:cNvPr id="8" name="Text 6"/>
          <p:cNvSpPr/>
          <p:nvPr/>
        </p:nvSpPr>
        <p:spPr>
          <a:xfrm>
            <a:off x="762000" y="5048250"/>
            <a:ext cx="3934111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59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Cross ₹55 Cr revenue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762000" y="9153525"/>
            <a:ext cx="39341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SALES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962525" y="1047750"/>
            <a:ext cx="4162425" cy="870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305425" y="1428750"/>
            <a:ext cx="3824288" cy="339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40"/>
              </a:lnSpc>
              <a:buNone/>
            </a:pPr>
            <a:r>
              <a:rPr lang="en-US" sz="330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33000" dirty="0"/>
          </a:p>
        </p:txBody>
      </p:sp>
      <p:sp>
        <p:nvSpPr>
          <p:cNvPr id="12" name="Text 10"/>
          <p:cNvSpPr/>
          <p:nvPr/>
        </p:nvSpPr>
        <p:spPr>
          <a:xfrm>
            <a:off x="5305425" y="5048250"/>
            <a:ext cx="3580924" cy="165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59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Quick-commerce to 12% of sales</a:t>
            </a:r>
            <a:endParaRPr lang="en-US" sz="4050" dirty="0"/>
          </a:p>
        </p:txBody>
      </p:sp>
      <p:sp>
        <p:nvSpPr>
          <p:cNvPr id="13" name="Text 11"/>
          <p:cNvSpPr/>
          <p:nvPr/>
        </p:nvSpPr>
        <p:spPr>
          <a:xfrm>
            <a:off x="5305425" y="9153525"/>
            <a:ext cx="35809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DIGITAL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63050" y="1047750"/>
            <a:ext cx="4162425" cy="870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505950" y="1428750"/>
            <a:ext cx="3824288" cy="339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40"/>
              </a:lnSpc>
              <a:buNone/>
            </a:pPr>
            <a:r>
              <a:rPr lang="en-US" sz="330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33000" dirty="0"/>
          </a:p>
        </p:txBody>
      </p:sp>
      <p:sp>
        <p:nvSpPr>
          <p:cNvPr id="16" name="Text 14"/>
          <p:cNvSpPr/>
          <p:nvPr/>
        </p:nvSpPr>
        <p:spPr>
          <a:xfrm>
            <a:off x="9505950" y="5048250"/>
            <a:ext cx="3580924" cy="165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59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Plant utilisation above 85%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9505950" y="9153525"/>
            <a:ext cx="35809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OPERATIONS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363575" y="1047750"/>
            <a:ext cx="4162425" cy="870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06475" y="1428750"/>
            <a:ext cx="4201478" cy="339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40"/>
              </a:lnSpc>
              <a:buNone/>
            </a:pPr>
            <a:r>
              <a:rPr lang="en-US" sz="330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33000" dirty="0"/>
          </a:p>
        </p:txBody>
      </p:sp>
      <p:sp>
        <p:nvSpPr>
          <p:cNvPr id="20" name="Text 18"/>
          <p:cNvSpPr/>
          <p:nvPr/>
        </p:nvSpPr>
        <p:spPr>
          <a:xfrm>
            <a:off x="13706475" y="5048250"/>
            <a:ext cx="3934111" cy="165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59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Close both senior sales hires</a:t>
            </a:r>
            <a:endParaRPr lang="en-US" sz="4050" dirty="0"/>
          </a:p>
        </p:txBody>
      </p:sp>
      <p:sp>
        <p:nvSpPr>
          <p:cNvPr id="21" name="Text 19"/>
          <p:cNvSpPr/>
          <p:nvPr/>
        </p:nvSpPr>
        <p:spPr>
          <a:xfrm>
            <a:off x="13706475" y="9153525"/>
            <a:ext cx="39341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PEOPLE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71550"/>
            <a:ext cx="16764000" cy="7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23297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KAVERI FOODS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186672" y="533400"/>
            <a:ext cx="4155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62000" y="7079010"/>
            <a:ext cx="15415840" cy="2712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33"/>
              </a:lnSpc>
              <a:buNone/>
            </a:pPr>
            <a:r>
              <a:rPr lang="en-US" sz="27000" b="1" spc="-540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QUES­TIONS</a:t>
            </a:r>
            <a:endParaRPr lang="en-US" sz="27000" dirty="0"/>
          </a:p>
        </p:txBody>
      </p:sp>
      <p:sp>
        <p:nvSpPr>
          <p:cNvPr id="6" name="Text 4"/>
          <p:cNvSpPr/>
          <p:nvPr/>
        </p:nvSpPr>
        <p:spPr>
          <a:xfrm>
            <a:off x="15453420" y="8709720"/>
            <a:ext cx="207258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priya.menon@ kaverifoods.in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2026-10-23T11:03:09Z</dcterms:created>
  <dcterms:modified xsi:type="dcterms:W3CDTF">2026-10-23T11:03:09Z</dcterms:modified>
</cp:coreProperties>
</file>