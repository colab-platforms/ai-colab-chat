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your company, client company, proposal title, date, presenter.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what the client told you, in their words, and up to three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your solution in one line and three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six deliverables or service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three pricing options, with the recommended one marked.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two or three proof points and a client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four next steps with dates, and contact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8823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EFE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Kaveri Foods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2296626" y="1047750"/>
            <a:ext cx="533321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7BFB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Prepared for Infosys, Mysuru campus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143000" y="2905125"/>
            <a:ext cx="1333500" cy="5715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381375"/>
            <a:ext cx="14716125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840"/>
              </a:lnSpc>
              <a:buNone/>
            </a:pPr>
            <a:r>
              <a:rPr lang="en-US" sz="10500" spc="-105" kern="0" dirty="0">
                <a:solidFill>
                  <a:srgbClr val="F5EFE6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Fresh South Indian meals for 6,000 people a day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1143000" y="8886825"/>
            <a:ext cx="52844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EFE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Ritika Nair </a:t>
            </a:r>
            <a:pPr algn="l" indent="0" marL="0">
              <a:buNone/>
            </a:pPr>
            <a:r>
              <a:rPr lang="en-US" sz="2250" dirty="0">
                <a:solidFill>
                  <a:srgbClr val="A7BFB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· Head of Corporate Sales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001280" y="8886825"/>
            <a:ext cx="23580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7BFB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November 2026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86164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7832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What we heard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1819275"/>
            <a:ext cx="8068116" cy="4815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68"/>
              </a:lnSpc>
              <a:buNone/>
            </a:pPr>
            <a:r>
              <a:rPr lang="en-US" sz="5700" dirty="0">
                <a:solidFill>
                  <a:srgbClr val="12372A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"Our people want home-style food, but the current menu repeats every week and lunch queues run to 25 minutes."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7015758"/>
            <a:ext cx="86164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C6F6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Facilities team, Infosys Mysuru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023872" y="2100263"/>
            <a:ext cx="7121128" cy="28575"/>
          </a:xfrm>
          <a:prstGeom prst="rect">
            <a:avLst/>
          </a:prstGeom>
          <a:solidFill>
            <a:srgbClr val="12372A"/>
          </a:solidFill>
          <a:ln/>
        </p:spPr>
      </p:sp>
      <p:sp>
        <p:nvSpPr>
          <p:cNvPr id="6" name="Text 4"/>
          <p:cNvSpPr/>
          <p:nvPr/>
        </p:nvSpPr>
        <p:spPr>
          <a:xfrm>
            <a:off x="10023872" y="2547938"/>
            <a:ext cx="783324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721"/>
              </a:lnSpc>
              <a:buNone/>
            </a:pPr>
            <a:r>
              <a:rPr lang="en-US" sz="5400" dirty="0">
                <a:solidFill>
                  <a:srgbClr val="12372A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25 min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023872" y="3348038"/>
            <a:ext cx="783324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E5249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average lunch queue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23872" y="4129088"/>
            <a:ext cx="7121128" cy="19050"/>
          </a:xfrm>
          <a:prstGeom prst="rect">
            <a:avLst/>
          </a:prstGeom>
          <a:solidFill>
            <a:srgbClr val="D8CDBB"/>
          </a:solidFill>
          <a:ln/>
        </p:spPr>
      </p:sp>
      <p:sp>
        <p:nvSpPr>
          <p:cNvPr id="9" name="Text 7"/>
          <p:cNvSpPr/>
          <p:nvPr/>
        </p:nvSpPr>
        <p:spPr>
          <a:xfrm>
            <a:off x="10023872" y="4567238"/>
            <a:ext cx="783324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721"/>
              </a:lnSpc>
              <a:buNone/>
            </a:pPr>
            <a:r>
              <a:rPr lang="en-US" sz="5400" dirty="0">
                <a:solidFill>
                  <a:srgbClr val="12372A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54%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0023872" y="5367338"/>
            <a:ext cx="783324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E5249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staff rate the food "average" or worse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023872" y="8167687"/>
            <a:ext cx="7121128" cy="19050"/>
          </a:xfrm>
          <a:prstGeom prst="rect">
            <a:avLst/>
          </a:prstGeom>
          <a:solidFill>
            <a:srgbClr val="D8CD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23872" y="6148388"/>
            <a:ext cx="7121128" cy="19050"/>
          </a:xfrm>
          <a:prstGeom prst="rect">
            <a:avLst/>
          </a:prstGeom>
          <a:solidFill>
            <a:srgbClr val="D8CDB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23872" y="6586538"/>
            <a:ext cx="783324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721"/>
              </a:lnSpc>
              <a:buNone/>
            </a:pPr>
            <a:r>
              <a:rPr lang="en-US" sz="5400" dirty="0">
                <a:solidFill>
                  <a:srgbClr val="12372A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18%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0023872" y="7386638"/>
            <a:ext cx="783324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E5249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of cooked food thrown away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4668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B44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Our approach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1666875"/>
            <a:ext cx="13735050" cy="1878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27"/>
              </a:lnSpc>
              <a:buNone/>
            </a:pPr>
            <a:r>
              <a:rPr lang="en-US" sz="6900" dirty="0">
                <a:solidFill>
                  <a:srgbClr val="F5EFE6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 rotating menu, cooked nearby, served faster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4268986"/>
            <a:ext cx="4978301" cy="28575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678561"/>
            <a:ext cx="547613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7200" dirty="0">
                <a:solidFill>
                  <a:srgbClr val="E9B44C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5821561"/>
            <a:ext cx="547613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5EFE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28-day menu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143000" y="6535936"/>
            <a:ext cx="5127650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05"/>
              </a:lnSpc>
              <a:buNone/>
            </a:pPr>
            <a:r>
              <a:rPr lang="en-US" sz="2400" dirty="0">
                <a:solidFill>
                  <a:srgbClr val="C9D8C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 dish repeats within four weeks, with dishes from four southern states.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654701" y="4268986"/>
            <a:ext cx="4978450" cy="28575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9" name="Text 7"/>
          <p:cNvSpPr/>
          <p:nvPr/>
        </p:nvSpPr>
        <p:spPr>
          <a:xfrm>
            <a:off x="6654701" y="4678561"/>
            <a:ext cx="547629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7200" dirty="0">
                <a:solidFill>
                  <a:srgbClr val="E9B44C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654701" y="5821561"/>
            <a:ext cx="547629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5EFE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Kitchen 6 km away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654701" y="6535936"/>
            <a:ext cx="5127803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05"/>
              </a:lnSpc>
              <a:buNone/>
            </a:pPr>
            <a:r>
              <a:rPr lang="en-US" sz="2400" dirty="0">
                <a:solidFill>
                  <a:srgbClr val="C9D8C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Food leaves our Hebbal kitchen 40 minutes before service.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166550" y="4268986"/>
            <a:ext cx="4978450" cy="28575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6550" y="4678561"/>
            <a:ext cx="547629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7200" dirty="0">
                <a:solidFill>
                  <a:srgbClr val="E9B44C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166550" y="5821561"/>
            <a:ext cx="547629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5EFE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Pre-order app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2166550" y="6535936"/>
            <a:ext cx="5127803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05"/>
              </a:lnSpc>
              <a:buNone/>
            </a:pPr>
            <a:r>
              <a:rPr lang="en-US" sz="2400" dirty="0">
                <a:solidFill>
                  <a:srgbClr val="C9D8C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Staff order by 10 am, so we cook to demand and cut waste.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7832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What's included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1666875"/>
            <a:ext cx="1760220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12372A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Everything from kitchen to counter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286125"/>
            <a:ext cx="7524750" cy="28575"/>
          </a:xfrm>
          <a:prstGeom prst="rect">
            <a:avLst/>
          </a:prstGeom>
          <a:solidFill>
            <a:srgbClr val="12372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016276"/>
            <a:ext cx="52566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7832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97261" y="4063901"/>
            <a:ext cx="65128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Breakfast, lunch and evening snacks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620250" y="3286125"/>
            <a:ext cx="7524750" cy="28575"/>
          </a:xfrm>
          <a:prstGeom prst="rect">
            <a:avLst/>
          </a:prstGeom>
          <a:solidFill>
            <a:srgbClr val="12372A"/>
          </a:solidFill>
          <a:ln/>
        </p:spPr>
      </p:sp>
      <p:sp>
        <p:nvSpPr>
          <p:cNvPr id="8" name="Text 6"/>
          <p:cNvSpPr/>
          <p:nvPr/>
        </p:nvSpPr>
        <p:spPr>
          <a:xfrm>
            <a:off x="9620250" y="4016276"/>
            <a:ext cx="65142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7832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04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500271" y="4063901"/>
            <a:ext cx="634494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Pre-order app and counter screens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5270450"/>
            <a:ext cx="7524750" cy="19050"/>
          </a:xfrm>
          <a:prstGeom prst="rect">
            <a:avLst/>
          </a:prstGeom>
          <a:solidFill>
            <a:srgbClr val="D8CDB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995839"/>
            <a:ext cx="59888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7832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970484" y="6043464"/>
            <a:ext cx="555687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Four live counters with 22 staff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620250" y="5270450"/>
            <a:ext cx="7524750" cy="19050"/>
          </a:xfrm>
          <a:prstGeom prst="rect">
            <a:avLst/>
          </a:prstGeom>
          <a:solidFill>
            <a:srgbClr val="D8CDBB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0" y="5995839"/>
            <a:ext cx="62671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7832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05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0475565" y="6043464"/>
            <a:ext cx="664984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Monthly menu review with your team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143000" y="9220051"/>
            <a:ext cx="7524750" cy="19050"/>
          </a:xfrm>
          <a:prstGeom prst="rect">
            <a:avLst/>
          </a:prstGeom>
          <a:solidFill>
            <a:srgbClr val="D8CDB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254776"/>
            <a:ext cx="7524750" cy="19050"/>
          </a:xfrm>
          <a:prstGeom prst="rect">
            <a:avLst/>
          </a:prstGeom>
          <a:solidFill>
            <a:srgbClr val="D8CDB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7970639"/>
            <a:ext cx="61853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7832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990130" y="8018264"/>
            <a:ext cx="684085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Daily hygiene audit and FSSAI records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620250" y="9220051"/>
            <a:ext cx="7524750" cy="19050"/>
          </a:xfrm>
          <a:prstGeom prst="rect">
            <a:avLst/>
          </a:prstGeom>
          <a:solidFill>
            <a:srgbClr val="D8CDBB"/>
          </a:solidFill>
          <a:ln/>
        </p:spPr>
      </p:sp>
      <p:sp>
        <p:nvSpPr>
          <p:cNvPr id="21" name="Shape 19"/>
          <p:cNvSpPr/>
          <p:nvPr/>
        </p:nvSpPr>
        <p:spPr>
          <a:xfrm>
            <a:off x="9620250" y="7254776"/>
            <a:ext cx="7524750" cy="19050"/>
          </a:xfrm>
          <a:prstGeom prst="rect">
            <a:avLst/>
          </a:prstGeom>
          <a:solidFill>
            <a:srgbClr val="D8CDBB"/>
          </a:solidFill>
          <a:ln/>
        </p:spPr>
      </p:sp>
      <p:sp>
        <p:nvSpPr>
          <p:cNvPr id="22" name="Text 20"/>
          <p:cNvSpPr/>
          <p:nvPr/>
        </p:nvSpPr>
        <p:spPr>
          <a:xfrm>
            <a:off x="9620250" y="7970639"/>
            <a:ext cx="6610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7832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06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0509945" y="8018264"/>
            <a:ext cx="465428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Waste report every Friday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7832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Investment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1666875"/>
            <a:ext cx="1760220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12372A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Three ways to start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286125"/>
            <a:ext cx="5130701" cy="5953125"/>
          </a:xfrm>
          <a:prstGeom prst="rect">
            <a:avLst/>
          </a:prstGeom>
          <a:ln w="28575">
            <a:solidFill>
              <a:srgbClr val="123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04975" y="3848100"/>
            <a:ext cx="4407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Lunch only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704975" y="4467225"/>
            <a:ext cx="440742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7200" dirty="0">
                <a:solidFill>
                  <a:srgbClr val="12372A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₹118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704975" y="5610225"/>
            <a:ext cx="440742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C6F6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per meal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04975" y="8250585"/>
            <a:ext cx="440742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400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One meal, two live counters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78501" y="3286125"/>
            <a:ext cx="5130850" cy="5953125"/>
          </a:xfrm>
          <a:prstGeom prst="rect">
            <a:avLst/>
          </a:prstGeom>
          <a:solidFill>
            <a:srgbClr val="12372A"/>
          </a:solidFill>
          <a:ln/>
        </p:spPr>
      </p:sp>
      <p:sp>
        <p:nvSpPr>
          <p:cNvPr id="10" name="Text 8"/>
          <p:cNvSpPr/>
          <p:nvPr/>
        </p:nvSpPr>
        <p:spPr>
          <a:xfrm>
            <a:off x="7111901" y="3819525"/>
            <a:ext cx="44704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9B44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Full day · recommended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111901" y="4438650"/>
            <a:ext cx="447045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7200" dirty="0">
                <a:solidFill>
                  <a:srgbClr val="F5EFE6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₹196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7111901" y="5581650"/>
            <a:ext cx="44704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7BFB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per person per day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111901" y="7852470"/>
            <a:ext cx="418597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400" dirty="0">
                <a:solidFill>
                  <a:srgbClr val="F5EFE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Breakfast, lunch, snacks, four counters, app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014150" y="3286125"/>
            <a:ext cx="5130850" cy="5953125"/>
          </a:xfrm>
          <a:prstGeom prst="rect">
            <a:avLst/>
          </a:prstGeom>
          <a:ln w="28575">
            <a:solidFill>
              <a:srgbClr val="123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76125" y="3848100"/>
            <a:ext cx="44075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Pilot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576125" y="4467225"/>
            <a:ext cx="440759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7200" dirty="0">
                <a:solidFill>
                  <a:srgbClr val="12372A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₹14 L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12576125" y="5610225"/>
            <a:ext cx="44075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C6F6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for 30 days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576125" y="7823895"/>
            <a:ext cx="412710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400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Full day plan in one building first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24163"/>
            <a:ext cx="82248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B44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Why Kaveri Foods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3709988"/>
            <a:ext cx="822483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9000" dirty="0">
                <a:solidFill>
                  <a:srgbClr val="F5EFE6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42,000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43000" y="4929188"/>
            <a:ext cx="822483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9D8C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meals served every day across 9 campuses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5853113"/>
            <a:ext cx="822483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9000" dirty="0">
                <a:solidFill>
                  <a:srgbClr val="F5EFE6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31 yrs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143000" y="7072313"/>
            <a:ext cx="822483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9D8C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cooking South Indian food at scale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667875" y="2369046"/>
            <a:ext cx="7477125" cy="5548908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8" name="Text 6"/>
          <p:cNvSpPr/>
          <p:nvPr/>
        </p:nvSpPr>
        <p:spPr>
          <a:xfrm>
            <a:off x="10353675" y="3054846"/>
            <a:ext cx="671607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9000" dirty="0">
                <a:solidFill>
                  <a:srgbClr val="B7832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"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10353675" y="4121646"/>
            <a:ext cx="6288691" cy="2415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48"/>
              </a:lnSpc>
              <a:buNone/>
            </a:pPr>
            <a:r>
              <a:rPr lang="en-US" sz="3900" dirty="0">
                <a:solidFill>
                  <a:srgbClr val="12372A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Queues dropped to under ten minutes in the first month, and our food rating went from 3.1 to 4.4.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0353675" y="6879729"/>
            <a:ext cx="671607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C6F6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Admin Head, Wipro Electronic City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B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9000" dirty="0">
                <a:solidFill>
                  <a:srgbClr val="12372A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Next steps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1143000" y="2800350"/>
            <a:ext cx="3714750" cy="38100"/>
          </a:xfrm>
          <a:prstGeom prst="rect">
            <a:avLst/>
          </a:prstGeom>
          <a:solidFill>
            <a:srgbClr val="12372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181350"/>
            <a:ext cx="40862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10 Nov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3724275"/>
            <a:ext cx="3826193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300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Tasting at your campus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238750" y="2800350"/>
            <a:ext cx="3714750" cy="38100"/>
          </a:xfrm>
          <a:prstGeom prst="rect">
            <a:avLst/>
          </a:prstGeom>
          <a:solidFill>
            <a:srgbClr val="12372A"/>
          </a:solidFill>
          <a:ln/>
        </p:spPr>
      </p:sp>
      <p:sp>
        <p:nvSpPr>
          <p:cNvPr id="7" name="Text 5"/>
          <p:cNvSpPr/>
          <p:nvPr/>
        </p:nvSpPr>
        <p:spPr>
          <a:xfrm>
            <a:off x="5238750" y="3181350"/>
            <a:ext cx="40862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17 Nov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238750" y="3724275"/>
            <a:ext cx="3826193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300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Agree the pilot building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334500" y="2800350"/>
            <a:ext cx="3714750" cy="38100"/>
          </a:xfrm>
          <a:prstGeom prst="rect">
            <a:avLst/>
          </a:prstGeom>
          <a:solidFill>
            <a:srgbClr val="12372A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3181350"/>
            <a:ext cx="40862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01 Dec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34500" y="3724275"/>
            <a:ext cx="40862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300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Pilot starts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3430250" y="2800350"/>
            <a:ext cx="3714750" cy="38100"/>
          </a:xfrm>
          <a:prstGeom prst="rect">
            <a:avLst/>
          </a:prstGeom>
          <a:solidFill>
            <a:srgbClr val="123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3430250" y="3181350"/>
            <a:ext cx="40862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05 Jan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430250" y="3724275"/>
            <a:ext cx="3826193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300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Review and full rollout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43000" y="8848725"/>
            <a:ext cx="626832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Ritika Nair · ritika.nair@kaverifoods.in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562534" y="8848725"/>
            <a:ext cx="284071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372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+91 98450 66012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2026-10-23T11:03:54Z</dcterms:created>
  <dcterms:modified xsi:type="dcterms:W3CDTF">2026-10-23T11:03:54Z</dcterms:modified>
</cp:coreProperties>
</file>