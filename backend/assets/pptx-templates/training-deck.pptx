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course name, module number and title, trainer name, duration.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up to four learning objectives, each starting with a verb.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one key idea explained in plain words, plus a worked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the procedure as up to five numbered steps, one line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up to three common mistakes, each with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a short exercise with a scenario and the time allowed.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three key takeaways and what the next module covers.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D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62050"/>
            <a:ext cx="318696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E3B4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Pocketbook Academy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14818519" y="1047750"/>
            <a:ext cx="2326481" cy="561975"/>
          </a:xfrm>
          <a:prstGeom prst="roundRect">
            <a:avLst>
              <a:gd name="adj" fmla="val 50000"/>
            </a:avLst>
          </a:prstGeom>
          <a:solidFill>
            <a:srgbClr val="0E3B43"/>
          </a:solidFill>
          <a:ln/>
        </p:spPr>
      </p:sp>
      <p:sp>
        <p:nvSpPr>
          <p:cNvPr id="4" name="Text 2"/>
          <p:cNvSpPr/>
          <p:nvPr/>
        </p:nvSpPr>
        <p:spPr>
          <a:xfrm>
            <a:off x="15085219" y="1162050"/>
            <a:ext cx="186928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D23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Module 2 of 5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43000" y="3471863"/>
            <a:ext cx="14716125" cy="275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798"/>
              </a:lnSpc>
              <a:buNone/>
            </a:pPr>
            <a:r>
              <a:rPr lang="en-US" sz="11250" b="1" spc="-450" kern="0" dirty="0">
                <a:solidFill>
                  <a:srgbClr val="0E3B4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Making your first GST bill</a:t>
            </a:r>
            <a:endParaRPr lang="en-US" sz="11250" dirty="0"/>
          </a:p>
        </p:txBody>
      </p:sp>
      <p:sp>
        <p:nvSpPr>
          <p:cNvPr id="6" name="Text 4"/>
          <p:cNvSpPr/>
          <p:nvPr/>
        </p:nvSpPr>
        <p:spPr>
          <a:xfrm>
            <a:off x="1143000" y="6491288"/>
            <a:ext cx="1760220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0E3B4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 hands-on session for new shop owners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143000" y="8877300"/>
            <a:ext cx="290079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E3B4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Trainer </a:t>
            </a:r>
            <a:pPr algn="l" indent="0" marL="0">
              <a:buNone/>
            </a:pPr>
            <a:r>
              <a:rPr lang="en-US" sz="2250" dirty="0">
                <a:solidFill>
                  <a:srgbClr val="0E3B4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· Tanvi Rao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4542086" y="8877300"/>
            <a:ext cx="272218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E3B4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Time </a:t>
            </a:r>
            <a:pPr algn="l" indent="0" marL="0">
              <a:buNone/>
            </a:pPr>
            <a:r>
              <a:rPr lang="en-US" sz="2250" dirty="0">
                <a:solidFill>
                  <a:srgbClr val="0E3B4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· 40 minutes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7778800" y="8877300"/>
            <a:ext cx="284889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E3B4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Bring </a:t>
            </a:r>
            <a:pPr algn="l" indent="0" marL="0">
              <a:buNone/>
            </a:pPr>
            <a:r>
              <a:rPr lang="en-US" sz="2250" dirty="0">
                <a:solidFill>
                  <a:srgbClr val="0E3B4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· your phone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176022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E7C8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By the end of this module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143000" y="1600200"/>
            <a:ext cx="1760220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b="1" spc="-198" kern="0" dirty="0">
                <a:solidFill>
                  <a:srgbClr val="0E3B4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You will be able to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143000" y="3314700"/>
            <a:ext cx="7848600" cy="2809875"/>
          </a:xfrm>
          <a:prstGeom prst="roundRect">
            <a:avLst>
              <a:gd name="adj" fmla="val 12203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600200" y="4262438"/>
            <a:ext cx="914400" cy="9144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1562100" y="4262438"/>
            <a:ext cx="990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2857500" y="4216747"/>
            <a:ext cx="5847207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0E3B4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Add items with the right GST rate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9296400" y="3314700"/>
            <a:ext cx="7848600" cy="2809875"/>
          </a:xfrm>
          <a:prstGeom prst="roundRect">
            <a:avLst>
              <a:gd name="adj" fmla="val 12203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9753600" y="4262438"/>
            <a:ext cx="914400" cy="9144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9715500" y="4262438"/>
            <a:ext cx="990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2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1010900" y="4216747"/>
            <a:ext cx="5847207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0E3B4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Make a bill in under a minute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1143000" y="6429375"/>
            <a:ext cx="7848600" cy="2809875"/>
          </a:xfrm>
          <a:prstGeom prst="roundRect">
            <a:avLst>
              <a:gd name="adj" fmla="val 12203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600200" y="7377113"/>
            <a:ext cx="914400" cy="9144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1562100" y="7377113"/>
            <a:ext cx="990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3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2857500" y="7331422"/>
            <a:ext cx="5847207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0E3B4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Share it on WhatsApp with a UPI QR</a:t>
            </a:r>
            <a:endParaRPr lang="en-US" sz="3300" dirty="0"/>
          </a:p>
        </p:txBody>
      </p:sp>
      <p:sp>
        <p:nvSpPr>
          <p:cNvPr id="16" name="Shape 14"/>
          <p:cNvSpPr/>
          <p:nvPr/>
        </p:nvSpPr>
        <p:spPr>
          <a:xfrm>
            <a:off x="9296400" y="6429375"/>
            <a:ext cx="7848600" cy="2809875"/>
          </a:xfrm>
          <a:prstGeom prst="roundRect">
            <a:avLst>
              <a:gd name="adj" fmla="val 12203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9753600" y="7377113"/>
            <a:ext cx="914400" cy="9144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9715500" y="7377113"/>
            <a:ext cx="990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4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1010900" y="7331422"/>
            <a:ext cx="5847207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0E3B4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Fix a mistake after the bill is sent</a:t>
            </a:r>
            <a:endParaRPr lang="en-US" sz="3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723257"/>
            <a:ext cx="827722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D23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idea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143000" y="3428107"/>
            <a:ext cx="7750492" cy="278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200" b="1" spc="-216" kern="0" dirty="0">
                <a:solidFill>
                  <a:srgbClr val="F7F4EC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GST is added on top of your price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143000" y="6514207"/>
            <a:ext cx="7750492" cy="1087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92"/>
              </a:lnSpc>
              <a:buNone/>
            </a:pPr>
            <a:r>
              <a:rPr lang="en-US" sz="2850" dirty="0">
                <a:solidFill>
                  <a:srgbClr val="BFD8D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Pocketbook works it out for you. You only pick the rate once, when you add the item.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620250" y="3014663"/>
            <a:ext cx="7524750" cy="4257675"/>
          </a:xfrm>
          <a:prstGeom prst="roundRect">
            <a:avLst>
              <a:gd name="adj" fmla="val 8949"/>
            </a:avLst>
          </a:prstGeom>
          <a:solidFill>
            <a:srgbClr val="F7F4EC"/>
          </a:solidFill>
          <a:ln/>
        </p:spPr>
      </p:sp>
      <p:sp>
        <p:nvSpPr>
          <p:cNvPr id="6" name="Text 4"/>
          <p:cNvSpPr/>
          <p:nvPr/>
        </p:nvSpPr>
        <p:spPr>
          <a:xfrm>
            <a:off x="10229850" y="3624263"/>
            <a:ext cx="693610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E7C8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Example: sambar masala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0229850" y="4252913"/>
            <a:ext cx="206030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0E3B4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Your price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5577840" y="4252913"/>
            <a:ext cx="103376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B4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₹100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229850" y="4995863"/>
            <a:ext cx="207454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0E3B4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GST at 5%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6078944" y="4995863"/>
            <a:ext cx="532656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B4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₹5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0229850" y="5738813"/>
            <a:ext cx="6305550" cy="38100"/>
          </a:xfrm>
          <a:prstGeom prst="rect">
            <a:avLst/>
          </a:prstGeom>
          <a:solidFill>
            <a:srgbClr val="0E3B43"/>
          </a:solidFill>
          <a:ln/>
        </p:spPr>
      </p:sp>
      <p:sp>
        <p:nvSpPr>
          <p:cNvPr id="12" name="Text 10"/>
          <p:cNvSpPr/>
          <p:nvPr/>
        </p:nvSpPr>
        <p:spPr>
          <a:xfrm>
            <a:off x="10229850" y="6043613"/>
            <a:ext cx="4225707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0E3B4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Customer pays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15280779" y="6043613"/>
            <a:ext cx="1380083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0E3B4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₹105</a:t>
            </a:r>
            <a:endParaRPr lang="en-US" sz="3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176022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E7C8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Step by step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143000" y="1600200"/>
            <a:ext cx="1760220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b="1" spc="-198" kern="0" dirty="0">
                <a:solidFill>
                  <a:srgbClr val="0E3B4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Make a bill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143000" y="3314700"/>
            <a:ext cx="3017490" cy="5924550"/>
          </a:xfrm>
          <a:prstGeom prst="roundRect">
            <a:avLst>
              <a:gd name="adj" fmla="val 1010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485900" y="3695700"/>
            <a:ext cx="2564859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739"/>
              </a:lnSpc>
              <a:buNone/>
            </a:pPr>
            <a:r>
              <a:rPr lang="en-US" sz="8250" b="1" dirty="0">
                <a:solidFill>
                  <a:srgbClr val="0E7C8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</a:t>
            </a:r>
            <a:endParaRPr lang="en-US" sz="8250" dirty="0"/>
          </a:p>
        </p:txBody>
      </p:sp>
      <p:sp>
        <p:nvSpPr>
          <p:cNvPr id="6" name="Text 4"/>
          <p:cNvSpPr/>
          <p:nvPr/>
        </p:nvSpPr>
        <p:spPr>
          <a:xfrm>
            <a:off x="1485900" y="8429625"/>
            <a:ext cx="2564859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E3B4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Tap New bill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389090" y="3314700"/>
            <a:ext cx="3017490" cy="5924550"/>
          </a:xfrm>
          <a:prstGeom prst="roundRect">
            <a:avLst>
              <a:gd name="adj" fmla="val 10101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731990" y="3695700"/>
            <a:ext cx="2564859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739"/>
              </a:lnSpc>
              <a:buNone/>
            </a:pPr>
            <a:r>
              <a:rPr lang="en-US" sz="8250" b="1" dirty="0">
                <a:solidFill>
                  <a:srgbClr val="0E7C8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2</a:t>
            </a:r>
            <a:endParaRPr lang="en-US" sz="8250" dirty="0"/>
          </a:p>
        </p:txBody>
      </p:sp>
      <p:sp>
        <p:nvSpPr>
          <p:cNvPr id="9" name="Text 7"/>
          <p:cNvSpPr/>
          <p:nvPr/>
        </p:nvSpPr>
        <p:spPr>
          <a:xfrm>
            <a:off x="4731990" y="7572375"/>
            <a:ext cx="2407890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E3B4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Scan or search each item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7635180" y="3314700"/>
            <a:ext cx="3017490" cy="5924550"/>
          </a:xfrm>
          <a:prstGeom prst="roundRect">
            <a:avLst>
              <a:gd name="adj" fmla="val 10101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7978080" y="3695700"/>
            <a:ext cx="2564859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739"/>
              </a:lnSpc>
              <a:buNone/>
            </a:pPr>
            <a:r>
              <a:rPr lang="en-US" sz="8250" b="1" dirty="0">
                <a:solidFill>
                  <a:srgbClr val="0E7C8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3</a:t>
            </a:r>
            <a:endParaRPr lang="en-US" sz="8250" dirty="0"/>
          </a:p>
        </p:txBody>
      </p:sp>
      <p:sp>
        <p:nvSpPr>
          <p:cNvPr id="12" name="Text 10"/>
          <p:cNvSpPr/>
          <p:nvPr/>
        </p:nvSpPr>
        <p:spPr>
          <a:xfrm>
            <a:off x="7978080" y="8001000"/>
            <a:ext cx="240789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E3B4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Check the quantity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10881271" y="3314700"/>
            <a:ext cx="3017490" cy="5924550"/>
          </a:xfrm>
          <a:prstGeom prst="roundRect">
            <a:avLst>
              <a:gd name="adj" fmla="val 10101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224171" y="3695700"/>
            <a:ext cx="2564859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739"/>
              </a:lnSpc>
              <a:buNone/>
            </a:pPr>
            <a:r>
              <a:rPr lang="en-US" sz="8250" b="1" dirty="0">
                <a:solidFill>
                  <a:srgbClr val="0E7C8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4</a:t>
            </a:r>
            <a:endParaRPr lang="en-US" sz="8250" dirty="0"/>
          </a:p>
        </p:txBody>
      </p:sp>
      <p:sp>
        <p:nvSpPr>
          <p:cNvPr id="15" name="Text 13"/>
          <p:cNvSpPr/>
          <p:nvPr/>
        </p:nvSpPr>
        <p:spPr>
          <a:xfrm>
            <a:off x="11224171" y="7572375"/>
            <a:ext cx="2407890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E3B4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Add the customer's number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14127361" y="3314700"/>
            <a:ext cx="3017490" cy="5924550"/>
          </a:xfrm>
          <a:prstGeom prst="roundRect">
            <a:avLst>
              <a:gd name="adj" fmla="val 10101"/>
            </a:avLst>
          </a:prstGeom>
          <a:solidFill>
            <a:srgbClr val="FFD23F"/>
          </a:solidFill>
          <a:ln/>
        </p:spPr>
      </p:sp>
      <p:sp>
        <p:nvSpPr>
          <p:cNvPr id="17" name="Text 15"/>
          <p:cNvSpPr/>
          <p:nvPr/>
        </p:nvSpPr>
        <p:spPr>
          <a:xfrm>
            <a:off x="14470261" y="3695700"/>
            <a:ext cx="2564859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739"/>
              </a:lnSpc>
              <a:buNone/>
            </a:pPr>
            <a:r>
              <a:rPr lang="en-US" sz="8250" b="1" dirty="0">
                <a:solidFill>
                  <a:srgbClr val="0E3B4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5</a:t>
            </a:r>
            <a:endParaRPr lang="en-US" sz="8250" dirty="0"/>
          </a:p>
        </p:txBody>
      </p:sp>
      <p:sp>
        <p:nvSpPr>
          <p:cNvPr id="18" name="Text 16"/>
          <p:cNvSpPr/>
          <p:nvPr/>
        </p:nvSpPr>
        <p:spPr>
          <a:xfrm>
            <a:off x="14470261" y="8001000"/>
            <a:ext cx="240789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E3B4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Tap Share and send</a:t>
            </a:r>
            <a:endParaRPr lang="en-US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176022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D1495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Watch out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143000" y="1600200"/>
            <a:ext cx="1760220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b="1" spc="-198" kern="0" dirty="0">
                <a:solidFill>
                  <a:srgbClr val="0E3B4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Three common mistakes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143000" y="3257550"/>
            <a:ext cx="16002000" cy="38100"/>
          </a:xfrm>
          <a:prstGeom prst="rect">
            <a:avLst/>
          </a:prstGeom>
          <a:solidFill>
            <a:srgbClr val="0E3B43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733800"/>
            <a:ext cx="79629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1495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Wrong GST rate on an item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724900" y="3638550"/>
            <a:ext cx="8382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0E3B4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→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906000" y="3733800"/>
            <a:ext cx="79629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B4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Set the rate in Items, not on the bill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143000" y="5419725"/>
            <a:ext cx="16002000" cy="19050"/>
          </a:xfrm>
          <a:prstGeom prst="rect">
            <a:avLst/>
          </a:prstGeom>
          <a:solidFill>
            <a:srgbClr val="D7E3E4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5876925"/>
            <a:ext cx="79629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1495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Bill sent to the wrong number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724900" y="5781675"/>
            <a:ext cx="8382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0E3B4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→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9906000" y="5876925"/>
            <a:ext cx="79629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B4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Open the bill and tap Resend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143000" y="9220200"/>
            <a:ext cx="16002000" cy="19050"/>
          </a:xfrm>
          <a:prstGeom prst="rect">
            <a:avLst/>
          </a:prstGeom>
          <a:solidFill>
            <a:srgbClr val="D7E3E4"/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" y="7562850"/>
            <a:ext cx="16002000" cy="19050"/>
          </a:xfrm>
          <a:prstGeom prst="rect">
            <a:avLst/>
          </a:prstGeom>
          <a:solidFill>
            <a:srgbClr val="D7E3E4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8162925"/>
            <a:ext cx="79629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1495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Deleting a bill to change it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724900" y="8067675"/>
            <a:ext cx="8382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0E3B4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→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9906000" y="7924800"/>
            <a:ext cx="745617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B4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Use Edit so the bill number stays the same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7C8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618607"/>
            <a:ext cx="902964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D23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Your turn · 10 minutes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143000" y="4323457"/>
            <a:ext cx="902964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500" b="1" spc="-225" kern="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Bill your partner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1143000" y="5618857"/>
            <a:ext cx="8455027" cy="1087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92"/>
              </a:lnSpc>
              <a:buNone/>
            </a:pPr>
            <a:r>
              <a:rPr lang="en-US" sz="2850" dirty="0">
                <a:solidFill>
                  <a:srgbClr val="D2ECEE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Your partner is a customer. Make a bill for the items on the right and send it to their phone.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0304264" y="2676525"/>
            <a:ext cx="6840736" cy="4933950"/>
          </a:xfrm>
          <a:prstGeom prst="roundRect">
            <a:avLst>
              <a:gd name="adj" fmla="val 7722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0913864" y="3286125"/>
            <a:ext cx="618369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E7C8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Shopping list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0913864" y="3933825"/>
            <a:ext cx="618369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0E3B4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2 × Rice flour 1 kg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913864" y="4695825"/>
            <a:ext cx="618369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0E3B4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 × Filter coffee 500 g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913864" y="5457825"/>
            <a:ext cx="618369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0E3B4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3 × Mango pickle 300 g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0913864" y="6219825"/>
            <a:ext cx="5621536" cy="38100"/>
          </a:xfrm>
          <a:prstGeom prst="rect">
            <a:avLst/>
          </a:prstGeom>
          <a:solidFill>
            <a:srgbClr val="0E3B43"/>
          </a:solidFill>
          <a:ln/>
        </p:spPr>
      </p:sp>
      <p:sp>
        <p:nvSpPr>
          <p:cNvPr id="11" name="Text 9"/>
          <p:cNvSpPr/>
          <p:nvPr/>
        </p:nvSpPr>
        <p:spPr>
          <a:xfrm>
            <a:off x="10913864" y="6524625"/>
            <a:ext cx="579018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B4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Check: ₹1,029 before GST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D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17602200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0" b="1" spc="-360" kern="0" dirty="0">
                <a:solidFill>
                  <a:srgbClr val="0E3B4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Recap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1143000" y="3086100"/>
            <a:ext cx="5130701" cy="4429125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638300" y="3581400"/>
            <a:ext cx="4554111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E7C8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✓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638300" y="6019800"/>
            <a:ext cx="4264304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057"/>
              </a:lnSpc>
              <a:buNone/>
            </a:pPr>
            <a:r>
              <a:rPr lang="en-US" sz="3150" b="1" dirty="0">
                <a:solidFill>
                  <a:srgbClr val="0E3B4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Set GST rates once, in Items</a:t>
            </a:r>
            <a:endParaRPr lang="en-US" sz="3150" dirty="0"/>
          </a:p>
        </p:txBody>
      </p:sp>
      <p:sp>
        <p:nvSpPr>
          <p:cNvPr id="6" name="Shape 4"/>
          <p:cNvSpPr/>
          <p:nvPr/>
        </p:nvSpPr>
        <p:spPr>
          <a:xfrm>
            <a:off x="6578501" y="3086100"/>
            <a:ext cx="5130850" cy="4429125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073801" y="3581400"/>
            <a:ext cx="455427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E7C8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✓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7073801" y="6019800"/>
            <a:ext cx="4264457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057"/>
              </a:lnSpc>
              <a:buNone/>
            </a:pPr>
            <a:r>
              <a:rPr lang="en-US" sz="3150" b="1" dirty="0">
                <a:solidFill>
                  <a:srgbClr val="0E3B4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Five taps from new bill to sent</a:t>
            </a:r>
            <a:endParaRPr lang="en-US" sz="3150" dirty="0"/>
          </a:p>
        </p:txBody>
      </p:sp>
      <p:sp>
        <p:nvSpPr>
          <p:cNvPr id="9" name="Shape 7"/>
          <p:cNvSpPr/>
          <p:nvPr/>
        </p:nvSpPr>
        <p:spPr>
          <a:xfrm>
            <a:off x="12014150" y="3086100"/>
            <a:ext cx="5130850" cy="4429125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2509450" y="3581400"/>
            <a:ext cx="455427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E7C8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✓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12509450" y="6019800"/>
            <a:ext cx="4264457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057"/>
              </a:lnSpc>
              <a:buNone/>
            </a:pPr>
            <a:r>
              <a:rPr lang="en-US" sz="3150" b="1" dirty="0">
                <a:solidFill>
                  <a:srgbClr val="0E3B4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Edit, never delete, to fix a bill</a:t>
            </a:r>
            <a:endParaRPr lang="en-US" sz="3150" dirty="0"/>
          </a:p>
        </p:txBody>
      </p:sp>
      <p:sp>
        <p:nvSpPr>
          <p:cNvPr id="12" name="Shape 10"/>
          <p:cNvSpPr/>
          <p:nvPr/>
        </p:nvSpPr>
        <p:spPr>
          <a:xfrm>
            <a:off x="1143000" y="8124825"/>
            <a:ext cx="16002000" cy="1114425"/>
          </a:xfrm>
          <a:prstGeom prst="roundRect">
            <a:avLst>
              <a:gd name="adj" fmla="val 50000"/>
            </a:avLst>
          </a:prstGeom>
          <a:solidFill>
            <a:srgbClr val="0E3B43"/>
          </a:solidFill>
          <a:ln/>
        </p:spPr>
      </p:sp>
      <p:sp>
        <p:nvSpPr>
          <p:cNvPr id="13" name="Text 11"/>
          <p:cNvSpPr/>
          <p:nvPr/>
        </p:nvSpPr>
        <p:spPr>
          <a:xfrm>
            <a:off x="1600200" y="8467725"/>
            <a:ext cx="591062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D23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Next: Module 3 · Tracking stock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2600384" y="8467725"/>
            <a:ext cx="449615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D23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academy.pocketbook.in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2026-10-23T11:03:43Z</dcterms:created>
  <dcterms:modified xsi:type="dcterms:W3CDTF">2026-10-23T11:03:43Z</dcterms:modified>
</cp:coreProperties>
</file>